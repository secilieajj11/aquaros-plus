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/>
  <p:notesSz cx="6858000" cy="12191365"/>
  <p:embeddedFontLst>
    <p:embeddedFont>
      <p:font typeface="Red Hat Mono Medium" panose="02010509040201060303" pitchFamily="34" charset="0"/>
      <p:regular r:id="rId17"/>
    </p:embeddedFont>
    <p:embeddedFont>
      <p:font typeface="Red Hat Mono Medium" panose="02010509040201060303" pitchFamily="34" charset="-122"/>
      <p:regular r:id="rId18"/>
    </p:embeddedFont>
    <p:embeddedFont>
      <p:font typeface="Red Hat Mono Medium" panose="02010509040201060303" pitchFamily="34" charset="-120"/>
      <p:regular r:id="rId19"/>
    </p:embeddedFont>
    <p:embeddedFont>
      <p:font typeface="Chakra Petch Bold" panose="00000800000000000000" pitchFamily="34" charset="0"/>
      <p:bold r:id="rId20"/>
    </p:embeddedFont>
    <p:embeddedFont>
      <p:font typeface="Chakra Petch Bold" panose="00000800000000000000" pitchFamily="34" charset="-122"/>
      <p:bold r:id="rId21"/>
    </p:embeddedFont>
    <p:embeddedFont>
      <p:font typeface="Chakra Petch Bold" panose="00000800000000000000" pitchFamily="34" charset="-120"/>
      <p:bold r:id="rId22"/>
    </p:embeddedFont>
    <p:embeddedFont>
      <p:font typeface="Plus Jakarta Sans" pitchFamily="34" charset="0"/>
      <p:regular r:id="rId23"/>
    </p:embeddedFont>
    <p:embeddedFont>
      <p:font typeface="Plus Jakarta Sans" pitchFamily="34" charset="-122"/>
      <p:regular r:id="rId24"/>
    </p:embeddedFont>
    <p:embeddedFont>
      <p:font typeface="Plus Jakarta Sans" pitchFamily="34" charset="-120"/>
      <p:regular r:id="rId25"/>
    </p:embeddedFont>
    <p:embeddedFont>
      <p:font typeface="Chakra Petch SemiBold" panose="00000700000000000000" pitchFamily="34" charset="0"/>
      <p:bold r:id="rId26"/>
    </p:embeddedFont>
    <p:embeddedFont>
      <p:font typeface="Chakra Petch SemiBold" panose="00000700000000000000" pitchFamily="34" charset="-122"/>
      <p:bold r:id="rId27"/>
    </p:embeddedFont>
    <p:embeddedFont>
      <p:font typeface="Chakra Petch SemiBold" panose="00000700000000000000" pitchFamily="34" charset="-120"/>
      <p:bold r:id="rId28"/>
    </p:embeddedFont>
    <p:embeddedFont>
      <p:font typeface="Plus Jakarta Sans Bold" pitchFamily="34" charset="0"/>
      <p:bold r:id="rId29"/>
    </p:embeddedFont>
    <p:embeddedFont>
      <p:font typeface="Plus Jakarta Sans Bold" pitchFamily="34" charset="-122"/>
      <p:bold r:id="rId30"/>
    </p:embeddedFont>
    <p:embeddedFont>
      <p:font typeface="Plus Jakarta Sans Bold" pitchFamily="34" charset="-120"/>
      <p:bold r:id="rId31"/>
    </p:embeddedFont>
    <p:embeddedFont>
      <p:font typeface="Red Hat Mono" panose="02010509040201060303" pitchFamily="34" charset="0"/>
      <p:regular r:id="rId32"/>
    </p:embeddedFont>
    <p:embeddedFont>
      <p:font typeface="Red Hat Mono" panose="02010509040201060303" pitchFamily="34" charset="-122"/>
      <p:regular r:id="rId33"/>
    </p:embeddedFont>
    <p:embeddedFont>
      <p:font typeface="Red Hat Mono" panose="02010509040201060303" pitchFamily="34" charset="-120"/>
      <p:regular r:id="rId34"/>
    </p:embeddedFont>
    <p:embeddedFont>
      <p:font typeface="Jura" pitchFamily="34" charset="0"/>
      <p:regular r:id="rId35"/>
    </p:embeddedFont>
    <p:embeddedFont>
      <p:font typeface="Jura" pitchFamily="34" charset="-122"/>
      <p:regular r:id="rId36"/>
    </p:embeddedFont>
    <p:embeddedFont>
      <p:font typeface="Jura" pitchFamily="34" charset="-120"/>
      <p:regular r:id="rId37"/>
    </p:embeddedFont>
    <p:embeddedFont>
      <p:font typeface="Calibri" panose="020F0502020204030204" charset="0"/>
      <p:regular r:id="rId38"/>
      <p:bold r:id="rId39"/>
      <p:italic r:id="rId40"/>
      <p:boldItalic r:id="rId4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font" Target="fonts/font25.fntdata"/><Relationship Id="rId40" Type="http://schemas.openxmlformats.org/officeDocument/2006/relationships/font" Target="fonts/font24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23.fntdata"/><Relationship Id="rId38" Type="http://schemas.openxmlformats.org/officeDocument/2006/relationships/font" Target="fonts/font22.fntdata"/><Relationship Id="rId37" Type="http://schemas.openxmlformats.org/officeDocument/2006/relationships/font" Target="fonts/font21.fntdata"/><Relationship Id="rId36" Type="http://schemas.openxmlformats.org/officeDocument/2006/relationships/font" Target="fonts/font20.fntdata"/><Relationship Id="rId35" Type="http://schemas.openxmlformats.org/officeDocument/2006/relationships/font" Target="fonts/font19.fntdata"/><Relationship Id="rId34" Type="http://schemas.openxmlformats.org/officeDocument/2006/relationships/font" Target="fonts/font18.fntdata"/><Relationship Id="rId33" Type="http://schemas.openxmlformats.org/officeDocument/2006/relationships/font" Target="fonts/font17.fntdata"/><Relationship Id="rId32" Type="http://schemas.openxmlformats.org/officeDocument/2006/relationships/font" Target="fonts/font16.fntdata"/><Relationship Id="rId31" Type="http://schemas.openxmlformats.org/officeDocument/2006/relationships/font" Target="fonts/font15.fntdata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readings can receive the same sensor-type priority in the existing system. The issue is that priority considers which sensor sent the message, not how serious the reported condition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7140" y="379512"/>
            <a:ext cx="8254793" cy="6099671"/>
          </a:xfrm>
          <a:prstGeom prst="roundRect">
            <a:avLst>
              <a:gd name="adj" fmla="val 468"/>
            </a:avLst>
          </a:prstGeom>
          <a:solidFill>
            <a:srgbClr val="FFFFFF">
              <a:alpha val="92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1249728" y="792897"/>
            <a:ext cx="7899202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00000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UNDERWATER ACOUSTIC SENSOR NETWORKS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9728" y="1212592"/>
            <a:ext cx="7289618" cy="28650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2000" b="1" kern="100" spc="-480" dirty="0">
                <a:solidFill>
                  <a:srgbClr val="000000"/>
                </a:solidFill>
                <a:latin typeface="Chakra Petch Bold" panose="00000800000000000000" pitchFamily="34" charset="0"/>
                <a:ea typeface="Chakra Petch Bold" panose="00000800000000000000" pitchFamily="34" charset="-122"/>
                <a:cs typeface="Chakra Petch Bold" panose="00000800000000000000" pitchFamily="34" charset="-120"/>
              </a:rPr>
              <a:t>AQUAROS</a:t>
            </a:r>
            <a:endParaRPr lang="en-US" sz="12000" dirty="0"/>
          </a:p>
          <a:p>
            <a:pPr marL="0" indent="0" algn="l">
              <a:lnSpc>
                <a:spcPct val="78000"/>
              </a:lnSpc>
              <a:buNone/>
            </a:pPr>
            <a:r>
              <a:rPr lang="en-US" sz="12000" b="1" kern="100" spc="-480" dirty="0">
                <a:solidFill>
                  <a:srgbClr val="000000"/>
                </a:solidFill>
                <a:latin typeface="Chakra Petch Bold" panose="00000800000000000000" pitchFamily="34" charset="0"/>
                <a:ea typeface="Chakra Petch Bold" panose="00000800000000000000" pitchFamily="34" charset="-122"/>
                <a:cs typeface="Chakra Petch Bold" panose="00000800000000000000" pitchFamily="34" charset="-120"/>
              </a:rPr>
              <a:t>PLUS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1249728" y="4294783"/>
            <a:ext cx="1822305" cy="38100"/>
          </a:xfrm>
          <a:prstGeom prst="roundRect">
            <a:avLst>
              <a:gd name="adj" fmla="val 49999"/>
            </a:avLst>
          </a:prstGeom>
          <a:solidFill>
            <a:srgbClr val="5B7083"/>
          </a:solidFill>
        </p:spPr>
      </p:sp>
      <p:sp>
        <p:nvSpPr>
          <p:cNvPr id="6" name="Text 4"/>
          <p:cNvSpPr/>
          <p:nvPr/>
        </p:nvSpPr>
        <p:spPr>
          <a:xfrm>
            <a:off x="1249728" y="4732679"/>
            <a:ext cx="7289618" cy="6369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Content-Aware Priority Scheduling for Underwater Acoustic Sensor Networks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49728" y="5545177"/>
            <a:ext cx="7289618" cy="5409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lightweight intelligence layer that prioritizes messages by what the sensor reports, not only by sensor type.</a:t>
            </a:r>
            <a:endParaRPr lang="en-US" sz="15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6450" y="4829810"/>
            <a:ext cx="2494915" cy="19856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63696"/>
            <a:ext cx="7604629" cy="4755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14243A"/>
                </a:solidFill>
                <a:latin typeface="Chakra Petch SemiBold" panose="00000700000000000000" pitchFamily="34" charset="0"/>
                <a:ea typeface="Chakra Petch SemiBold" panose="00000700000000000000" pitchFamily="34" charset="-122"/>
                <a:cs typeface="Chakra Petch SemiBold" panose="00000700000000000000" pitchFamily="34" charset="-120"/>
              </a:rPr>
              <a:t>Critical messages can be delayed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04792" y="1050230"/>
            <a:ext cx="1901083" cy="38100"/>
          </a:xfrm>
          <a:prstGeom prst="roundRect">
            <a:avLst>
              <a:gd name="adj" fmla="val 49999"/>
            </a:avLst>
          </a:prstGeom>
          <a:solidFill>
            <a:srgbClr val="5B7083"/>
          </a:solidFill>
        </p:spPr>
      </p:sp>
      <p:sp>
        <p:nvSpPr>
          <p:cNvPr id="4" name="Text 2"/>
          <p:cNvSpPr/>
          <p:nvPr/>
        </p:nvSpPr>
        <p:spPr>
          <a:xfrm>
            <a:off x="304792" y="1327090"/>
            <a:ext cx="7604629" cy="8114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Underwater sensor networks collect pressure, temperature, and hydrophone readings. These readings travel over bandwidth-constrained acoustic links with high latency and possible interruptions.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4792" y="2302966"/>
            <a:ext cx="7604629" cy="14539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When communication is available, only a limited number of buffered messages can be transmitted in each communication window.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Pressure 6 bar: normal. Pressure 40 bar: potentially serious anomaly.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Both readings may receive the same priority in the existing system, because priority is assigned by sensor type rather than reading value.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4792" y="3948053"/>
            <a:ext cx="7909422" cy="2704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E2F40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Consequences: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792" y="4382988"/>
            <a:ext cx="7604629" cy="11834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Routine messages from a higher-priority sensor type may be transmitted first.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Critical anomalies from a lower-priority sensor type may wait across multiple communication windows.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Delayed warnings reduce the usefulness of time-sensitive sensor information.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4792" y="5757605"/>
            <a:ext cx="7604629" cy="5409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E2F40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Problem:</a:t>
            </a: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the existing priority mechanism considers which sensor sent the message, but does not evaluate how serious the reported condition is.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1303" y="0"/>
            <a:ext cx="3520392" cy="6858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0594" y="6458545"/>
            <a:ext cx="790952" cy="1893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56697A"/>
                </a:solidFill>
                <a:latin typeface="Red Hat Mono" panose="02010509040201060303" pitchFamily="34" charset="0"/>
                <a:ea typeface="Red Hat Mono" panose="02010509040201060303" pitchFamily="34" charset="-122"/>
                <a:cs typeface="Red Hat Mono" panose="02010509040201060303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5B7083"/>
          </a:solidFill>
        </p:spPr>
      </p:sp>
      <p:sp>
        <p:nvSpPr>
          <p:cNvPr id="3" name="Text 1"/>
          <p:cNvSpPr/>
          <p:nvPr/>
        </p:nvSpPr>
        <p:spPr>
          <a:xfrm>
            <a:off x="457189" y="413385"/>
            <a:ext cx="5638659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FFFFFF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RESEARCH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189" y="700842"/>
            <a:ext cx="5232269" cy="9511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FFFFFF"/>
                </a:solidFill>
                <a:latin typeface="Chakra Petch SemiBold" panose="00000700000000000000" pitchFamily="34" charset="0"/>
                <a:ea typeface="Chakra Petch SemiBold" panose="00000700000000000000" pitchFamily="34" charset="-122"/>
                <a:cs typeface="Chakra Petch SemiBold" panose="00000700000000000000" pitchFamily="34" charset="-120"/>
              </a:rPr>
              <a:t>Fixed priorities leave a research gap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457189" y="1862931"/>
            <a:ext cx="1307968" cy="38100"/>
          </a:xfrm>
          <a:prstGeom prst="roundRect">
            <a:avLst>
              <a:gd name="adj" fmla="val 49999"/>
            </a:avLst>
          </a:prstGeom>
          <a:solidFill>
            <a:srgbClr val="5B7083"/>
          </a:solidFill>
        </p:spPr>
      </p:sp>
      <p:sp>
        <p:nvSpPr>
          <p:cNvPr id="6" name="Text 4"/>
          <p:cNvSpPr/>
          <p:nvPr/>
        </p:nvSpPr>
        <p:spPr>
          <a:xfrm>
            <a:off x="457189" y="2139791"/>
            <a:ext cx="5232269" cy="10818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Related research addresses underwater routing, energy efficiency, packet scheduling, and queue management. AQUAROS PLUS specifically focuses on calculating message urgency from the actual sensor reading.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189" y="3386138"/>
            <a:ext cx="5232269" cy="2632472"/>
          </a:xfrm>
          <a:prstGeom prst="rect">
            <a:avLst/>
          </a:prstGeom>
          <a:solidFill>
            <a:srgbClr val="FFE08A"/>
          </a:solidFill>
        </p:spPr>
      </p:sp>
      <p:sp>
        <p:nvSpPr>
          <p:cNvPr id="8" name="Text 6"/>
          <p:cNvSpPr/>
          <p:nvPr/>
        </p:nvSpPr>
        <p:spPr>
          <a:xfrm>
            <a:off x="660383" y="3570922"/>
            <a:ext cx="5029074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1E2F4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BASE PRIORITY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60383" y="3859808"/>
          <a:ext cx="4825880" cy="1980953"/>
        </p:xfrm>
        <a:graphic>
          <a:graphicData uri="http://schemas.openxmlformats.org/drawingml/2006/table">
            <a:tbl>
              <a:tblPr/>
              <a:tblGrid>
                <a:gridCol w="2654234"/>
                <a:gridCol w="2171646"/>
              </a:tblGrid>
              <a:tr h="6996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Sensor type</a:t>
                      </a:r>
                      <a:endParaRPr lang="en-US" sz="150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Example base priority</a:t>
                      </a:r>
                      <a:endParaRPr lang="en-US" sz="150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</a:tr>
              <a:tr h="4292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Hydrophone</a:t>
                      </a:r>
                      <a:endParaRPr lang="en-US" sz="150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</a:t>
                      </a:r>
                      <a:endParaRPr lang="en-US" sz="150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</a:tr>
              <a:tr h="4292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Temperature</a:t>
                      </a:r>
                      <a:endParaRPr lang="en-US" sz="150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150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</a:tr>
              <a:tr h="422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Pressure</a:t>
                      </a:r>
                      <a:endParaRPr lang="en-US" sz="150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150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527637" y="434975"/>
            <a:ext cx="5232269" cy="419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Existing fixed-priority path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6527637" y="968375"/>
            <a:ext cx="5232269" cy="15555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Sensor reading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Identify sensor type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Assign fixed priority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Priority queue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Transmission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527637" y="2747764"/>
            <a:ext cx="5232170" cy="31651"/>
          </a:xfrm>
          <a:prstGeom prst="roundRect">
            <a:avLst>
              <a:gd name="adj" fmla="val 49998"/>
            </a:avLst>
          </a:prstGeom>
          <a:solidFill>
            <a:srgbClr val="B5C3CE"/>
          </a:solidFill>
        </p:spPr>
      </p:sp>
      <p:sp>
        <p:nvSpPr>
          <p:cNvPr id="13" name="Text 10"/>
          <p:cNvSpPr/>
          <p:nvPr/>
        </p:nvSpPr>
        <p:spPr>
          <a:xfrm>
            <a:off x="6527637" y="3003352"/>
            <a:ext cx="5232269" cy="17244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content awareness: normal and abnormal readings from one sensor share a base priority.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Delayed anomalies: routine messages can consume limited transmission opportunities.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configuration: priority tables need deployment-specific tuning.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56697A"/>
                </a:solidFill>
                <a:latin typeface="Red Hat Mono" panose="02010509040201060303" pitchFamily="34" charset="0"/>
                <a:ea typeface="Red Hat Mono" panose="02010509040201060303" pitchFamily="34" charset="-122"/>
                <a:cs typeface="Red Hat Mono" panose="02010509040201060303" pitchFamily="34" charset="-120"/>
              </a:rPr>
              <a:t>03</a:t>
            </a:r>
            <a:endParaRPr lang="en-US" sz="105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5160" y="6423660"/>
            <a:ext cx="138684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5B7083"/>
          </a:solidFill>
        </p:spPr>
      </p:sp>
      <p:sp>
        <p:nvSpPr>
          <p:cNvPr id="3" name="Text 1"/>
          <p:cNvSpPr/>
          <p:nvPr/>
        </p:nvSpPr>
        <p:spPr>
          <a:xfrm>
            <a:off x="584185" y="565785"/>
            <a:ext cx="3479713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FFFFFF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THE PROPOSED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4185" y="853242"/>
            <a:ext cx="3047924" cy="9511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FFFFFF"/>
                </a:solidFill>
                <a:latin typeface="Chakra Petch SemiBold" panose="00000700000000000000" pitchFamily="34" charset="0"/>
                <a:ea typeface="Chakra Petch SemiBold" panose="00000700000000000000" pitchFamily="34" charset="-122"/>
                <a:cs typeface="Chakra Petch SemiBold" panose="00000700000000000000" pitchFamily="34" charset="-120"/>
              </a:rPr>
              <a:t>AQUAROS PLUS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584185" y="2015331"/>
            <a:ext cx="761981" cy="38100"/>
          </a:xfrm>
          <a:prstGeom prst="roundRect">
            <a:avLst>
              <a:gd name="adj" fmla="val 49999"/>
            </a:avLst>
          </a:prstGeom>
          <a:solidFill>
            <a:srgbClr val="5B7083"/>
          </a:solidFill>
        </p:spPr>
      </p:sp>
      <p:sp>
        <p:nvSpPr>
          <p:cNvPr id="6" name="Text 4"/>
          <p:cNvSpPr/>
          <p:nvPr/>
        </p:nvSpPr>
        <p:spPr>
          <a:xfrm>
            <a:off x="584185" y="2292191"/>
            <a:ext cx="3479713" cy="2704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Intelligence before the queue.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4185" y="4349393"/>
            <a:ext cx="3479713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FFFFFF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ARCHITECTURE PRESERVED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4185" y="4715113"/>
            <a:ext cx="3047924" cy="16228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AQUAROS PLUS adds a content-aware layer before the existing priority queue. It does not replace the entire communication system or redesign the MAC and modem layers.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46486" y="566896"/>
            <a:ext cx="7086423" cy="9511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14243A"/>
                </a:solidFill>
                <a:latin typeface="Chakra Petch SemiBold" panose="00000700000000000000" pitchFamily="34" charset="0"/>
                <a:ea typeface="Chakra Petch SemiBold" panose="00000700000000000000" pitchFamily="34" charset="-122"/>
                <a:cs typeface="Chakra Petch SemiBold" panose="00000700000000000000" pitchFamily="34" charset="-120"/>
              </a:rPr>
              <a:t>AQUAROS PLUS adds intelligence before the queue</a:t>
            </a:r>
            <a:endParaRPr lang="en-US" sz="3500" dirty="0"/>
          </a:p>
        </p:txBody>
      </p:sp>
      <p:sp>
        <p:nvSpPr>
          <p:cNvPr id="10" name="Shape 8"/>
          <p:cNvSpPr/>
          <p:nvPr/>
        </p:nvSpPr>
        <p:spPr>
          <a:xfrm>
            <a:off x="4546486" y="1728986"/>
            <a:ext cx="1771606" cy="38100"/>
          </a:xfrm>
          <a:prstGeom prst="roundRect">
            <a:avLst>
              <a:gd name="adj" fmla="val 49999"/>
            </a:avLst>
          </a:prstGeom>
          <a:solidFill>
            <a:srgbClr val="5B7083"/>
          </a:solidFill>
        </p:spPr>
      </p:sp>
      <p:sp>
        <p:nvSpPr>
          <p:cNvPr id="11" name="Text 9"/>
          <p:cNvSpPr/>
          <p:nvPr/>
        </p:nvSpPr>
        <p:spPr>
          <a:xfrm>
            <a:off x="4546486" y="1992511"/>
            <a:ext cx="3390815" cy="18768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Sensor reading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Normal-range check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Deviation and severity calculation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Updated priority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Priority queue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6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Transmission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42094" y="1992511"/>
            <a:ext cx="3390815" cy="23161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Normal readings retain their base priority.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Out-of-range readings receive a severity-based boost.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Final priority is capped at 10.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Higher-priority messages get earlier access to available capacity.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42094" y="4436308"/>
            <a:ext cx="3390815" cy="8114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Existing: sensor type → priority. AQUAROS PLUS: sensor type + reading severity → priority.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56697A"/>
                </a:solidFill>
                <a:latin typeface="Red Hat Mono" panose="02010509040201060303" pitchFamily="34" charset="0"/>
                <a:ea typeface="Red Hat Mono" panose="02010509040201060303" pitchFamily="34" charset="-122"/>
                <a:cs typeface="Red Hat Mono" panose="02010509040201060303" pitchFamily="34" charset="-120"/>
              </a:rPr>
              <a:t>04</a:t>
            </a:r>
            <a:endParaRPr lang="en-US" sz="105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4525" y="6423660"/>
            <a:ext cx="138684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10306"/>
            <a:ext cx="6039989" cy="162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84" dirty="0">
                <a:solidFill>
                  <a:srgbClr val="3A4D5E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LOCAL SCORING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760662"/>
            <a:ext cx="5430404" cy="84970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150" kern="100" spc="-38" dirty="0">
                <a:solidFill>
                  <a:srgbClr val="14243A"/>
                </a:solidFill>
                <a:latin typeface="Chakra Petch SemiBold" panose="00000700000000000000" pitchFamily="34" charset="0"/>
                <a:ea typeface="Chakra Petch SemiBold" panose="00000700000000000000" pitchFamily="34" charset="-122"/>
                <a:cs typeface="Chakra Petch SemiBold" panose="00000700000000000000" pitchFamily="34" charset="-120"/>
              </a:rPr>
              <a:t>Severity scoring turns readings into urgency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09585" y="1781175"/>
            <a:ext cx="1357477" cy="31651"/>
          </a:xfrm>
          <a:prstGeom prst="roundRect">
            <a:avLst>
              <a:gd name="adj" fmla="val 49998"/>
            </a:avLst>
          </a:prstGeom>
          <a:solidFill>
            <a:srgbClr val="5B7083"/>
          </a:solidFill>
        </p:spPr>
      </p:sp>
      <p:sp>
        <p:nvSpPr>
          <p:cNvPr id="5" name="Text 3"/>
          <p:cNvSpPr/>
          <p:nvPr/>
        </p:nvSpPr>
        <p:spPr>
          <a:xfrm>
            <a:off x="609585" y="1995587"/>
            <a:ext cx="5430404" cy="1534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1200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Read the sensor value.</a:t>
            </a:r>
            <a:endParaRPr lang="en-US" sz="1350" dirty="0"/>
          </a:p>
          <a:p>
            <a:pPr marL="274320" indent="-274320" algn="l">
              <a:lnSpc>
                <a:spcPct val="11200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Compare it with the sensor's configured normal operating range.</a:t>
            </a:r>
            <a:endParaRPr lang="en-US" sz="1350" dirty="0"/>
          </a:p>
          <a:p>
            <a:pPr marL="274320" indent="-274320" algn="l">
              <a:lnSpc>
                <a:spcPct val="1120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If it is within range, retain the base priority.</a:t>
            </a:r>
            <a:endParaRPr lang="en-US" sz="1350" dirty="0"/>
          </a:p>
          <a:p>
            <a:pPr marL="274320" indent="-274320" algn="l">
              <a:lnSpc>
                <a:spcPct val="11200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If it is outside the range, calculate the normalized deviation and severity boost.</a:t>
            </a:r>
            <a:endParaRPr lang="en-US" sz="1350" dirty="0"/>
          </a:p>
          <a:p>
            <a:pPr marL="274320" indent="-274320" algn="l">
              <a:lnSpc>
                <a:spcPct val="112000"/>
              </a:lnSpc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Calculate the final priority, capped at 10.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585" y="3685743"/>
            <a:ext cx="6039989" cy="228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If value is within range: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041973"/>
            <a:ext cx="5430404" cy="2970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9585" y="4495071"/>
            <a:ext cx="6039989" cy="228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Otherwise:</a:t>
            </a:r>
            <a:endParaRPr lang="en-US" sz="13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4851301"/>
            <a:ext cx="5430404" cy="534392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527477"/>
            <a:ext cx="5430404" cy="297061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5966321"/>
            <a:ext cx="5430404" cy="29706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9585" y="6337891"/>
            <a:ext cx="5430404" cy="32940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kern="100" spc="10" dirty="0">
                <a:solidFill>
                  <a:srgbClr val="5669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Scoring is O(1) per reading; ordering n buffered messages with comparison sorting is O(n log n).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7106663" y="0"/>
            <a:ext cx="5085032" cy="6858000"/>
          </a:xfrm>
          <a:prstGeom prst="rect">
            <a:avLst/>
          </a:prstGeom>
          <a:solidFill>
            <a:srgbClr val="FFE08A"/>
          </a:solidFill>
        </p:spPr>
      </p:sp>
      <p:sp>
        <p:nvSpPr>
          <p:cNvPr id="14" name="Text 8"/>
          <p:cNvSpPr/>
          <p:nvPr/>
        </p:nvSpPr>
        <p:spPr>
          <a:xfrm>
            <a:off x="7462254" y="332506"/>
            <a:ext cx="4729441" cy="162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84" dirty="0">
                <a:solidFill>
                  <a:srgbClr val="1E2F4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PRESSURE SCORING EXAMPLE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7462254" y="634206"/>
          <a:ext cx="4373850" cy="1478322"/>
        </p:xfrm>
        <a:graphic>
          <a:graphicData uri="http://schemas.openxmlformats.org/drawingml/2006/table">
            <a:tbl>
              <a:tblPr/>
              <a:tblGrid>
                <a:gridCol w="1312135"/>
                <a:gridCol w="1661972"/>
                <a:gridCol w="1399743"/>
              </a:tblGrid>
              <a:tr h="37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Reading</a:t>
                      </a:r>
                      <a:endParaRPr lang="en-US" sz="13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27621" marR="127621" marT="68065" marB="68065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Condition</a:t>
                      </a:r>
                      <a:endParaRPr lang="en-US" sz="13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27621" marR="127621" marT="68065" marB="68065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Final priority</a:t>
                      </a:r>
                      <a:endParaRPr lang="en-US" sz="13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27621" marR="127621" marT="68065" marB="68065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</a:tr>
              <a:tr h="37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 bar</a:t>
                      </a:r>
                      <a:endParaRPr lang="en-US" sz="13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27621" marR="127621" marT="68065" marB="68065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Normal</a:t>
                      </a:r>
                      <a:endParaRPr lang="en-US" sz="13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27621" marR="127621" marT="68065" marB="68065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13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27621" marR="127621" marT="68065" marB="68065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</a:tr>
              <a:tr h="37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 bar</a:t>
                      </a:r>
                      <a:endParaRPr lang="en-US" sz="13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27621" marR="127621" marT="68065" marB="68065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Abnormal</a:t>
                      </a:r>
                      <a:endParaRPr lang="en-US" sz="13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27621" marR="127621" marT="68065" marB="68065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8.8</a:t>
                      </a:r>
                      <a:endParaRPr lang="en-US" sz="13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27621" marR="127621" marT="68065" marB="68065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</a:tr>
              <a:tr h="3648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40 bar</a:t>
                      </a:r>
                      <a:endParaRPr lang="en-US" sz="13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27621" marR="127621" marT="68065" marB="68065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Severe anomaly</a:t>
                      </a:r>
                      <a:endParaRPr lang="en-US" sz="13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27621" marR="127621" marT="68065" marB="68065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</a:t>
                      </a:r>
                      <a:endParaRPr lang="en-US" sz="13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27621" marR="127621" marT="68065" marB="68065" anchor="ctr">
                    <a:lnL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</a:tr>
            </a:tbl>
          </a:graphicData>
        </a:graphic>
      </p:graphicFrame>
      <p:sp>
        <p:nvSpPr>
          <p:cNvPr id="16" name="Text 9"/>
          <p:cNvSpPr/>
          <p:nvPr/>
        </p:nvSpPr>
        <p:spPr>
          <a:xfrm>
            <a:off x="7462254" y="6393284"/>
            <a:ext cx="4729441" cy="162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84" dirty="0">
                <a:solidFill>
                  <a:srgbClr val="1E2F4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EXAMPLE RANGE · 0–10 BAR · BASE PRIORITY 2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11838981" y="6468566"/>
            <a:ext cx="352714" cy="169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kern="100" spc="75" dirty="0">
                <a:solidFill>
                  <a:srgbClr val="56697A"/>
                </a:solidFill>
                <a:latin typeface="Red Hat Mono" panose="02010509040201060303" pitchFamily="34" charset="0"/>
                <a:ea typeface="Red Hat Mono" panose="02010509040201060303" pitchFamily="34" charset="-122"/>
                <a:cs typeface="Red Hat Mono" panose="02010509040201060303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712"/>
            <a:ext cx="5257668" cy="1630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84" dirty="0">
                <a:solidFill>
                  <a:srgbClr val="3A4D5E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SYSTEM 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67904"/>
            <a:ext cx="4648084" cy="85367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150" kern="100" spc="-38" dirty="0">
                <a:solidFill>
                  <a:srgbClr val="14243A"/>
                </a:solidFill>
                <a:latin typeface="Chakra Petch SemiBold" panose="00000700000000000000" pitchFamily="34" charset="0"/>
                <a:ea typeface="Chakra Petch SemiBold" panose="00000700000000000000" pitchFamily="34" charset="-122"/>
                <a:cs typeface="Chakra Petch SemiBold" panose="00000700000000000000" pitchFamily="34" charset="-120"/>
              </a:rPr>
              <a:t>Integrated path: routing, urgency, queue, modem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09585" y="1889820"/>
            <a:ext cx="1162021" cy="31651"/>
          </a:xfrm>
          <a:prstGeom prst="roundRect">
            <a:avLst>
              <a:gd name="adj" fmla="val 49998"/>
            </a:avLst>
          </a:prstGeom>
          <a:solidFill>
            <a:srgbClr val="5B7083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04" y="2125504"/>
            <a:ext cx="4171846" cy="17990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9464" y="2318814"/>
            <a:ext cx="2294216" cy="125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bg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Sensor Nodes</a:t>
            </a:r>
            <a:endParaRPr lang="en-US" sz="1000" b="1" dirty="0">
              <a:solidFill>
                <a:schemeClr val="bg1"/>
              </a:solidFill>
              <a:latin typeface="Plus Jakarta Sans" pitchFamily="34" charset="0"/>
              <a:ea typeface="Plus Jakarta Sans" pitchFamily="34" charset="-122"/>
              <a:cs typeface="Plus Jakarta Sans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29464" y="2731557"/>
            <a:ext cx="2294216" cy="125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bg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Routing Relay</a:t>
            </a:r>
            <a:endParaRPr lang="en-US" sz="1000" b="1" dirty="0">
              <a:solidFill>
                <a:schemeClr val="bg1"/>
              </a:solidFill>
              <a:latin typeface="Plus Jakarta Sans" pitchFamily="34" charset="0"/>
              <a:ea typeface="Plus Jakarta Sans" pitchFamily="34" charset="-122"/>
              <a:cs typeface="Plus Jakarta Sans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29464" y="3144574"/>
            <a:ext cx="2294216" cy="125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bg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Priority Eval</a:t>
            </a:r>
            <a:endParaRPr lang="en-US" sz="1000" b="1" dirty="0">
              <a:solidFill>
                <a:schemeClr val="bg1"/>
              </a:solidFill>
              <a:latin typeface="Plus Jakarta Sans" pitchFamily="34" charset="0"/>
              <a:ea typeface="Plus Jakarta Sans" pitchFamily="34" charset="-122"/>
              <a:cs typeface="Plus Jakarta Sans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29464" y="3557589"/>
            <a:ext cx="2294216" cy="125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bg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Queue &amp; MAC</a:t>
            </a:r>
            <a:endParaRPr lang="en-US" sz="1000" b="1" dirty="0">
              <a:solidFill>
                <a:schemeClr val="bg1"/>
              </a:solidFill>
              <a:latin typeface="Plus Jakarta Sans" pitchFamily="34" charset="0"/>
              <a:ea typeface="Plus Jakarta Sans" pitchFamily="34" charset="-122"/>
              <a:cs typeface="Plus Jakarta Sans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FFE08A"/>
          </a:solidFill>
        </p:spPr>
      </p:sp>
      <p:sp>
        <p:nvSpPr>
          <p:cNvPr id="11" name="Text 8"/>
          <p:cNvSpPr/>
          <p:nvPr/>
        </p:nvSpPr>
        <p:spPr>
          <a:xfrm>
            <a:off x="6553036" y="101600"/>
            <a:ext cx="5638659" cy="185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kern="100" spc="84" dirty="0">
                <a:solidFill>
                  <a:srgbClr val="1E2F4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MODEL STATUS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53036" y="447713"/>
            <a:ext cx="5410065" cy="506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QLS and SHEEP are simplified models inspired by the cited papers, not exact reimplementations.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53036" y="1103949"/>
            <a:ext cx="5410065" cy="37107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kern="100" spc="1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Sensor nodes → SHEEP-inspired routing → AQUAROS PLUS → QLS-inspired queue management → ros_acomms MAC and modem → sink.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53036" y="1621433"/>
            <a:ext cx="5638659" cy="185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kern="100" spc="84" dirty="0">
                <a:solidFill>
                  <a:srgbClr val="1E2F4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ROLES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53036" y="1959372"/>
            <a:ext cx="5410065" cy="1964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E2F40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SHEEP-inspired routing:</a:t>
            </a:r>
            <a:r>
              <a:rPr lang="en-US" sz="13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selects the next relay based on residual energy in the simulation.</a:t>
            </a:r>
            <a:endParaRPr lang="en-US" sz="1350" dirty="0"/>
          </a:p>
          <a:p>
            <a:pPr marL="274320" indent="-274320" algn="l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E2F40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AQUAROS PLUS:</a:t>
            </a:r>
            <a:r>
              <a:rPr lang="en-US" sz="13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evaluates the actual sensor reading and adjusts message priority.</a:t>
            </a:r>
            <a:endParaRPr lang="en-US" sz="1350" dirty="0"/>
          </a:p>
          <a:p>
            <a:pPr marL="274320" indent="-274320" algn="l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E2F40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QLS-inspired queue management:</a:t>
            </a:r>
            <a:r>
              <a:rPr lang="en-US" sz="13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represents queue and energy management.</a:t>
            </a:r>
            <a:endParaRPr lang="en-US" sz="1350" dirty="0"/>
          </a:p>
          <a:p>
            <a:pPr marL="274320" indent="-274320" algn="l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E2F40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ros_acomms:</a:t>
            </a:r>
            <a:r>
              <a:rPr lang="en-US" sz="13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represents the existing communication, MAC, and modem interface.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553036" y="3924300"/>
            <a:ext cx="5638659" cy="185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kern="100" spc="84" dirty="0">
                <a:solidFill>
                  <a:srgbClr val="1E2F4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RELATED RESEARCH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53036" y="4303514"/>
            <a:ext cx="5410065" cy="14511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1150"/>
              </a:spcAft>
              <a:buNone/>
            </a:pPr>
            <a:r>
              <a:rPr lang="en-US" sz="1000" kern="100" spc="1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Caroline Mary, A., Senthil Kumar, A.V., Saleh, O.S. (2024). “Packet Scheduling in the Underwater Network Using Active Priority and QLS-Based Energy-Efficient Backpressure Technique.” </a:t>
            </a:r>
            <a:r>
              <a:rPr lang="en-US" sz="1000" i="1" kern="100" spc="1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Lecture Notes in Networks and Systems</a:t>
            </a:r>
            <a:r>
              <a:rPr lang="en-US" sz="1000" kern="100" spc="1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, vol. 731, Springer. DOI: </a:t>
            </a:r>
            <a:r>
              <a:rPr lang="en-US" sz="1000" b="1" u="sng" kern="100" spc="10" dirty="0">
                <a:solidFill>
                  <a:srgbClr val="062A33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https://doi.org/10.1007/978-981-99-4071-4_39</a:t>
            </a:r>
            <a:endParaRPr lang="en-US" sz="10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000" kern="100" spc="1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Ismail, M. et al. (2023). “A Novel Routing Protocol for Underwater Wireless Sensor Networks Based on Shifted Energy Efficiency and Priority (SHEEP).” </a:t>
            </a:r>
            <a:r>
              <a:rPr lang="en-US" sz="1000" i="1" kern="100" spc="1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Computer Communications</a:t>
            </a:r>
            <a:r>
              <a:rPr lang="en-US" sz="1000" kern="100" spc="1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, vol. 210, pp. 147–162. DOI: </a:t>
            </a:r>
            <a:r>
              <a:rPr lang="en-US" sz="1000" b="1" u="sng" kern="100" spc="10" dirty="0">
                <a:solidFill>
                  <a:srgbClr val="062A33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https://doi.org/10.1016/j.comcom.2023.07.014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553036" y="6018213"/>
            <a:ext cx="5638659" cy="185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kern="100" spc="84" dirty="0">
                <a:solidFill>
                  <a:srgbClr val="1E2F4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MODEL STATUS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53036" y="6226531"/>
            <a:ext cx="5410065" cy="506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QLS and SHEEP in this project are simplified models inspired by the papers, not exact reimplementations.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838287" y="6468269"/>
            <a:ext cx="353408" cy="16986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kern="100" spc="75" dirty="0">
                <a:solidFill>
                  <a:srgbClr val="56697A"/>
                </a:solidFill>
                <a:latin typeface="Red Hat Mono" panose="02010509040201060303" pitchFamily="34" charset="0"/>
                <a:ea typeface="Red Hat Mono" panose="02010509040201060303" pitchFamily="34" charset="-122"/>
                <a:cs typeface="Red Hat Mono" panose="02010509040201060303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09892"/>
            <a:ext cx="6659793" cy="1700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88" dirty="0">
                <a:solidFill>
                  <a:srgbClr val="3A4D5E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0990" y="575998"/>
            <a:ext cx="6329601" cy="4454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300" kern="100" spc="-39" dirty="0">
                <a:solidFill>
                  <a:srgbClr val="14243A"/>
                </a:solidFill>
                <a:latin typeface="Chakra Petch SemiBold" panose="00000700000000000000" pitchFamily="34" charset="0"/>
                <a:ea typeface="Chakra Petch SemiBold" panose="00000700000000000000" pitchFamily="34" charset="-122"/>
                <a:cs typeface="Chakra Petch SemiBold" panose="00000700000000000000" pitchFamily="34" charset="-120"/>
              </a:rPr>
              <a:t>Software simulation setup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380990" y="1207294"/>
            <a:ext cx="1582301" cy="38100"/>
          </a:xfrm>
          <a:prstGeom prst="roundRect">
            <a:avLst>
              <a:gd name="adj" fmla="val 49999"/>
            </a:avLst>
          </a:prstGeom>
          <a:solidFill>
            <a:srgbClr val="5B7083"/>
          </a:solidFill>
        </p:spPr>
      </p:sp>
      <p:sp>
        <p:nvSpPr>
          <p:cNvPr id="5" name="Text 3"/>
          <p:cNvSpPr/>
          <p:nvPr/>
        </p:nvSpPr>
        <p:spPr>
          <a:xfrm>
            <a:off x="380990" y="1445915"/>
            <a:ext cx="6329601" cy="20520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b="1" dirty="0">
                <a:solidFill>
                  <a:srgbClr val="1E2F40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Implemented:</a:t>
            </a:r>
            <a:r>
              <a:rPr lang="en-US" sz="14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aquaros_project.py for the priority algorithm, two-hop network simulation, and evaluation metrics.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b="1" dirty="0">
                <a:solidFill>
                  <a:srgbClr val="1E2F40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Interactive demo:</a:t>
            </a:r>
            <a:r>
              <a:rPr lang="en-US" sz="14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aquaros_plus_demo.html with two queues, capacity-limited communication windows, live reading injection, and auto-demo mode.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b="1" dirty="0">
                <a:solidFill>
                  <a:srgbClr val="1E2F40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Tests and outputs:</a:t>
            </a:r>
            <a:r>
              <a:rPr lang="en-US" sz="14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seven automated tests; ROS wrapper node written but not tested; results/results.csv and results/summary.png; written project documentation.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0990" y="3664014"/>
            <a:ext cx="6659793" cy="2453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F40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Simulation configuration: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0990" y="4055269"/>
            <a:ext cx="6329601" cy="21856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 sensor nodes, 2 relay nodes, 1 sink.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Each sensor generates 4 readings per communication window and can send 4 messages.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Each relay can forward 12 messages per window.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Transmission loss probability: 10%. Anomaly probability: 3% per reading.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200 windows per run; results averaged across 40 random seeds.</a:t>
            </a:r>
            <a:endParaRPr lang="en-US" sz="1400" dirty="0"/>
          </a:p>
          <a:p>
            <a:pPr marL="284480" indent="-284480" algn="l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Relay selection based on residual energy using a SHEEP-inspired model.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0990" y="6240646"/>
            <a:ext cx="6329601" cy="4907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F40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Boundary:</a:t>
            </a:r>
            <a:r>
              <a:rPr lang="en-US" sz="14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software simulation only. No physical underwater hardware or live ros_acomms integration was used.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7290" y="2633464"/>
            <a:ext cx="3254988" cy="15910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94325" y="3178168"/>
            <a:ext cx="1095889" cy="101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Sensors</a:t>
            </a:r>
            <a:endParaRPr lang="en-US" sz="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6469" y="3007789"/>
            <a:ext cx="117177" cy="11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925038" y="2813608"/>
            <a:ext cx="1095889" cy="101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Relays</a:t>
            </a:r>
            <a:endParaRPr lang="en-US" sz="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001" y="3242149"/>
            <a:ext cx="117178" cy="1171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99353" y="3562257"/>
            <a:ext cx="1095889" cy="101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Sink</a:t>
            </a:r>
            <a:endParaRPr lang="en-US" sz="6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2666" y="3740163"/>
            <a:ext cx="117178" cy="1171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65385" y="3933327"/>
            <a:ext cx="1095889" cy="101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Experiment</a:t>
            </a:r>
            <a:endParaRPr lang="en-US" sz="6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1880" y="3515568"/>
            <a:ext cx="117177" cy="1171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31143" y="6464498"/>
            <a:ext cx="360552" cy="1773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kern="100" spc="79" dirty="0">
                <a:solidFill>
                  <a:srgbClr val="56697A"/>
                </a:solidFill>
                <a:latin typeface="Red Hat Mono" panose="02010509040201060303" pitchFamily="34" charset="0"/>
                <a:ea typeface="Red Hat Mono" panose="02010509040201060303" pitchFamily="34" charset="-122"/>
                <a:cs typeface="Red Hat Mono" panose="02010509040201060303" pitchFamily="34" charset="-120"/>
              </a:rPr>
              <a:t>07</a:t>
            </a:r>
            <a:endParaRPr lang="en-US" sz="10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5785" y="6407150"/>
            <a:ext cx="138684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491"/>
            <a:ext cx="6822309" cy="1368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kern="100" spc="70" dirty="0">
                <a:solidFill>
                  <a:srgbClr val="3A4D5E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SOFTWARE SIMULATION · AVERAGES ACROSS 40 RANDOM SEEDS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09585" y="816180"/>
            <a:ext cx="6212724" cy="7165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2650" kern="100" spc="-32" dirty="0">
                <a:solidFill>
                  <a:srgbClr val="14243A"/>
                </a:solidFill>
                <a:latin typeface="Chakra Petch SemiBold" panose="00000700000000000000" pitchFamily="34" charset="0"/>
                <a:ea typeface="Chakra Petch SemiBold" panose="00000700000000000000" pitchFamily="34" charset="-122"/>
                <a:cs typeface="Chakra Petch SemiBold" panose="00000700000000000000" pitchFamily="34" charset="-120"/>
              </a:rPr>
              <a:t>AQUAROS PLUS sharply reduces anomaly delay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609585" y="1653977"/>
            <a:ext cx="1553032" cy="31651"/>
          </a:xfrm>
          <a:prstGeom prst="roundRect">
            <a:avLst>
              <a:gd name="adj" fmla="val 49998"/>
            </a:avLst>
          </a:prstGeom>
          <a:solidFill>
            <a:srgbClr val="5B7083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20863"/>
            <a:ext cx="6212724" cy="244068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09585" y="4362450"/>
          <a:ext cx="6212725" cy="2488840"/>
        </p:xfrm>
        <a:graphic>
          <a:graphicData uri="http://schemas.openxmlformats.org/drawingml/2006/table">
            <a:tbl>
              <a:tblPr/>
              <a:tblGrid>
                <a:gridCol w="2112414"/>
                <a:gridCol w="1366704"/>
                <a:gridCol w="1366704"/>
                <a:gridCol w="1366903"/>
              </a:tblGrid>
              <a:tr h="584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kern="100" spc="95" dirty="0">
                          <a:solidFill>
                            <a:srgbClr val="14243A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SYSTEM</a:t>
                      </a:r>
                      <a:endParaRPr lang="en-US" sz="800" dirty="0">
                        <a:latin typeface="Jura" pitchFamily="34" charset="0"/>
                        <a:ea typeface="Jura" pitchFamily="34" charset="0"/>
                        <a:cs typeface="Jura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kern="100" spc="95" dirty="0">
                          <a:solidFill>
                            <a:srgbClr val="14243A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ANOMALY LATENCY (WINDOWS)</a:t>
                      </a:r>
                      <a:endParaRPr lang="en-US" sz="800" dirty="0">
                        <a:latin typeface="Jura" pitchFamily="34" charset="0"/>
                        <a:ea typeface="Jura" pitchFamily="34" charset="0"/>
                        <a:cs typeface="Jura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kern="100" spc="95" dirty="0">
                          <a:solidFill>
                            <a:srgbClr val="14243A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ANOMALIES WITHIN 3 WINDOWS</a:t>
                      </a:r>
                      <a:endParaRPr lang="en-US" sz="800" dirty="0">
                        <a:latin typeface="Jura" pitchFamily="34" charset="0"/>
                        <a:ea typeface="Jura" pitchFamily="34" charset="0"/>
                        <a:cs typeface="Jura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kern="100" spc="95" dirty="0">
                          <a:solidFill>
                            <a:srgbClr val="14243A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ROUTINE LATENCY (WINDOWS)</a:t>
                      </a:r>
                      <a:endParaRPr lang="en-US" sz="800" dirty="0">
                        <a:latin typeface="Jura" pitchFamily="34" charset="0"/>
                        <a:ea typeface="Jura" pitchFamily="34" charset="0"/>
                        <a:cs typeface="Jura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2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Existing static priority</a:t>
                      </a:r>
                      <a:endParaRPr lang="en-US" sz="11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10.86</a:t>
                      </a:r>
                      <a:endParaRPr lang="en-US" sz="11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52.6%</a:t>
                      </a:r>
                      <a:endParaRPr lang="en-US" sz="11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11.05</a:t>
                      </a:r>
                      <a:endParaRPr lang="en-US" sz="11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Static + QLS-inspired aging</a:t>
                      </a:r>
                      <a:endParaRPr lang="en-US" sz="11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10.93</a:t>
                      </a:r>
                      <a:endParaRPr lang="en-US" sz="11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35.4%</a:t>
                      </a:r>
                      <a:endParaRPr lang="en-US" sz="11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11.05</a:t>
                      </a:r>
                      <a:endParaRPr lang="en-US" sz="11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2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AQUAROS PLUS</a:t>
                      </a:r>
                      <a:endParaRPr lang="en-US" sz="11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0.22</a:t>
                      </a:r>
                      <a:endParaRPr lang="en-US" sz="11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99.9%</a:t>
                      </a:r>
                      <a:endParaRPr lang="en-US" sz="11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11.39</a:t>
                      </a:r>
                      <a:endParaRPr lang="en-US" sz="11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AQUAROS PLUS + QLS-inspired</a:t>
                      </a:r>
                      <a:endParaRPr lang="en-US" sz="11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0.22</a:t>
                      </a:r>
                      <a:endParaRPr lang="en-US" sz="11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99.9%</a:t>
                      </a:r>
                      <a:endParaRPr lang="en-US" sz="11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F4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11.39</a:t>
                      </a:r>
                      <a:endParaRPr lang="en-US" sz="115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888983" y="0"/>
            <a:ext cx="4302712" cy="6858000"/>
          </a:xfrm>
          <a:prstGeom prst="rect">
            <a:avLst/>
          </a:prstGeom>
          <a:solidFill>
            <a:srgbClr val="FFE08A"/>
          </a:solidFill>
        </p:spPr>
      </p:sp>
      <p:sp>
        <p:nvSpPr>
          <p:cNvPr id="8" name="Text 4"/>
          <p:cNvSpPr/>
          <p:nvPr/>
        </p:nvSpPr>
        <p:spPr>
          <a:xfrm>
            <a:off x="8193775" y="2029244"/>
            <a:ext cx="3997920" cy="1368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kern="100" spc="70" dirty="0">
                <a:solidFill>
                  <a:srgbClr val="1E2F4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RESULTS</a:t>
            </a:r>
            <a:endParaRPr lang="en-US" sz="850" dirty="0"/>
          </a:p>
        </p:txBody>
      </p:sp>
      <p:sp>
        <p:nvSpPr>
          <p:cNvPr id="6" name="Text 5"/>
          <p:cNvSpPr/>
          <p:nvPr/>
        </p:nvSpPr>
        <p:spPr>
          <a:xfrm>
            <a:off x="8193775" y="2267562"/>
            <a:ext cx="3693127" cy="5396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4500" b="1" kern="100" spc="-181" dirty="0">
                <a:solidFill>
                  <a:srgbClr val="1E2F40"/>
                </a:solidFill>
                <a:latin typeface="Chakra Petch Bold" panose="00000800000000000000" pitchFamily="34" charset="0"/>
                <a:ea typeface="Chakra Petch Bold" panose="00000800000000000000" pitchFamily="34" charset="-122"/>
                <a:cs typeface="Chakra Petch Bold" panose="00000800000000000000" pitchFamily="34" charset="-120"/>
              </a:rPr>
              <a:t>98%</a:t>
            </a:r>
            <a:endParaRPr lang="en-US" sz="4500" dirty="0"/>
          </a:p>
        </p:txBody>
      </p:sp>
      <p:sp>
        <p:nvSpPr>
          <p:cNvPr id="10" name="Text 6"/>
          <p:cNvSpPr/>
          <p:nvPr/>
        </p:nvSpPr>
        <p:spPr>
          <a:xfrm>
            <a:off x="8193775" y="2890317"/>
            <a:ext cx="3997920" cy="1786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Average anomaly latency falls approximately 98%.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193775" y="3188494"/>
            <a:ext cx="923207" cy="19050"/>
          </a:xfrm>
          <a:prstGeom prst="roundRect">
            <a:avLst>
              <a:gd name="adj" fmla="val 49999"/>
            </a:avLst>
          </a:prstGeom>
          <a:solidFill>
            <a:srgbClr val="5B7083"/>
          </a:solidFill>
        </p:spPr>
      </p:sp>
      <p:sp>
        <p:nvSpPr>
          <p:cNvPr id="12" name="Text 8"/>
          <p:cNvSpPr/>
          <p:nvPr/>
        </p:nvSpPr>
        <p:spPr>
          <a:xfrm>
            <a:off x="8193775" y="3344267"/>
            <a:ext cx="3693127" cy="12739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750"/>
              </a:spcAft>
              <a:buNone/>
            </a:pPr>
            <a:r>
              <a:rPr lang="en-US" sz="11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Anomaly p95 latency: 37.7 windows existing vs 1.0 window AQUAROS PLUS.</a:t>
            </a:r>
            <a:endParaRPr lang="en-US" sz="1150" dirty="0"/>
          </a:p>
          <a:p>
            <a:pPr marL="0" indent="0" algn="l">
              <a:lnSpc>
                <a:spcPct val="104000"/>
              </a:lnSpc>
              <a:spcAft>
                <a:spcPts val="750"/>
              </a:spcAft>
              <a:buNone/>
            </a:pPr>
            <a:r>
              <a:rPr lang="en-US" sz="11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Anomaly delivery ratio: 89.2% existing vs 99.9% AQUAROS PLUS.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Routine latency rises slightly from 11.05 to 11.39 windows.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193775" y="4727269"/>
            <a:ext cx="3997920" cy="1389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kern="100" spc="8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window is not treated as a fixed number of seconds.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864381" y="6481862"/>
            <a:ext cx="327314" cy="14267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kern="100" spc="63" dirty="0">
                <a:solidFill>
                  <a:srgbClr val="56697A"/>
                </a:solidFill>
                <a:latin typeface="Red Hat Mono" panose="02010509040201060303" pitchFamily="34" charset="0"/>
                <a:ea typeface="Red Hat Mono" panose="02010509040201060303" pitchFamily="34" charset="-122"/>
                <a:cs typeface="Red Hat Mono" panose="02010509040201060303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3A4D5E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VALIDATION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14243A"/>
                </a:solidFill>
                <a:latin typeface="Chakra Petch SemiBold" panose="00000700000000000000" pitchFamily="34" charset="0"/>
                <a:ea typeface="Chakra Petch SemiBold" panose="00000700000000000000" pitchFamily="34" charset="-122"/>
                <a:cs typeface="Chakra Petch SemiBold" panose="00000700000000000000" pitchFamily="34" charset="-120"/>
              </a:rPr>
              <a:t>Limitations define the next validation steps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90576"/>
            <a:ext cx="2743131" cy="38100"/>
          </a:xfrm>
          <a:prstGeom prst="roundRect">
            <a:avLst>
              <a:gd name="adj" fmla="val 49999"/>
            </a:avLst>
          </a:prstGeom>
          <a:solidFill>
            <a:srgbClr val="5B7083"/>
          </a:solidFill>
        </p:spPr>
      </p:sp>
      <p:sp>
        <p:nvSpPr>
          <p:cNvPr id="5" name="Shape 3"/>
          <p:cNvSpPr/>
          <p:nvPr/>
        </p:nvSpPr>
        <p:spPr>
          <a:xfrm>
            <a:off x="609585" y="1854101"/>
            <a:ext cx="5333867" cy="4010422"/>
          </a:xfrm>
          <a:prstGeom prst="rect">
            <a:avLst/>
          </a:prstGeom>
          <a:solidFill>
            <a:srgbClr val="FFE08A"/>
          </a:solidFill>
        </p:spPr>
      </p:sp>
      <p:sp>
        <p:nvSpPr>
          <p:cNvPr id="6" name="Text 4"/>
          <p:cNvSpPr/>
          <p:nvPr/>
        </p:nvSpPr>
        <p:spPr>
          <a:xfrm>
            <a:off x="914377" y="2108799"/>
            <a:ext cx="5029074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kern="100" spc="93" dirty="0">
                <a:solidFill>
                  <a:srgbClr val="1E2F4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377" y="2467173"/>
            <a:ext cx="4724282" cy="29079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Simulation only: no physical underwater hardware or live ros_acomms test was performed.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QLS and SHEEP are simplified models inspired by published work, not exact reimplementations.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ROS wrapper is written but untested.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Sensor ranges are simplified placeholders and require real-world calibration, particularly for hydrophone measurements.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simulated network is overloaded, so routine latency is high for all systems.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8244" y="1854101"/>
            <a:ext cx="5333867" cy="4010422"/>
          </a:xfrm>
          <a:prstGeom prst="rect">
            <a:avLst/>
          </a:prstGeom>
          <a:solidFill>
            <a:srgbClr val="5B7083"/>
          </a:solidFill>
        </p:spPr>
      </p:sp>
      <p:sp>
        <p:nvSpPr>
          <p:cNvPr id="9" name="Text 7"/>
          <p:cNvSpPr/>
          <p:nvPr/>
        </p:nvSpPr>
        <p:spPr>
          <a:xfrm>
            <a:off x="6553036" y="2115086"/>
            <a:ext cx="5029074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FFFFFF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NEXT VALIDATION STEPS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36" y="2403971"/>
            <a:ext cx="4724282" cy="29079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Replay recorded sensor data offline.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Integrate AQUAROS PLUS with ros_acomms in a ROS test environment.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Conduct controlled tank tests using a real acoustic modem.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Evaluate the system in a field deployment.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Measure priority accuracy, computational overhead, routine-traffic impact, critical-message latency, time-critical delivery ratio, and energy consumption.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53036" y="5437223"/>
            <a:ext cx="5029074" cy="1843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100" spc="1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Local scoring requires no additional network transmissions.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56697A"/>
                </a:solidFill>
                <a:latin typeface="Red Hat Mono" panose="02010509040201060303" pitchFamily="34" charset="0"/>
                <a:ea typeface="Red Hat Mono" panose="02010509040201060303" pitchFamily="34" charset="-122"/>
                <a:cs typeface="Red Hat Mono" panose="02010509040201060303" pitchFamily="34" charset="-120"/>
              </a:rPr>
              <a:t>09</a:t>
            </a:r>
            <a:endParaRPr lang="en-US" sz="10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4525" y="6423660"/>
            <a:ext cx="138684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6431198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3A4D5E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TAKEAWAY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5821614" cy="1195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100" spc="-53" dirty="0">
                <a:solidFill>
                  <a:srgbClr val="14243A"/>
                </a:solidFill>
                <a:latin typeface="Chakra Petch SemiBold" panose="00000700000000000000" pitchFamily="34" charset="0"/>
                <a:ea typeface="Chakra Petch SemiBold" panose="00000700000000000000" pitchFamily="34" charset="-122"/>
                <a:cs typeface="Chakra Petch SemiBold" panose="00000700000000000000" pitchFamily="34" charset="-120"/>
              </a:rPr>
              <a:t>Content should determine urgency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310805"/>
            <a:ext cx="1455304" cy="38100"/>
          </a:xfrm>
          <a:prstGeom prst="roundRect">
            <a:avLst>
              <a:gd name="adj" fmla="val 49999"/>
            </a:avLst>
          </a:prstGeom>
          <a:solidFill>
            <a:srgbClr val="5B7083"/>
          </a:solidFill>
        </p:spPr>
      </p:sp>
      <p:sp>
        <p:nvSpPr>
          <p:cNvPr id="5" name="Text 3"/>
          <p:cNvSpPr/>
          <p:nvPr/>
        </p:nvSpPr>
        <p:spPr>
          <a:xfrm>
            <a:off x="609585" y="2574330"/>
            <a:ext cx="5821614" cy="18006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1350"/>
              </a:spcAft>
              <a:buNone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AQUAROS PLUS introduces content-aware priority scoring before the existing priority queue. It distinguishes routine readings from abnormal readings and boosts the priority of severe anomalies without replacing the underlying communication architecture.</a:t>
            </a:r>
            <a:endParaRPr lang="en-US" sz="15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E2F40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Key results: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4552752"/>
            <a:ext cx="5821614" cy="9130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Average anomaly latency: 10.86 → 0.22 windows.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Anomalies sent within three windows: 52.6% → 99.9%.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Routine latency: 11.05 → 11.39 windows.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5328" y="5733097"/>
            <a:ext cx="5535871" cy="5409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1E2F4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“A message's importance should depend on what the sensor reports, not only on which sensor sends it.”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5643563"/>
            <a:ext cx="28574" cy="693341"/>
          </a:xfrm>
          <a:prstGeom prst="roundRect">
            <a:avLst>
              <a:gd name="adj" fmla="val 50000"/>
            </a:avLst>
          </a:prstGeom>
          <a:solidFill>
            <a:srgbClr val="5B7083"/>
          </a:solidFill>
        </p:spPr>
      </p:sp>
      <p:sp>
        <p:nvSpPr>
          <p:cNvPr id="9" name="Shape 7"/>
          <p:cNvSpPr/>
          <p:nvPr/>
        </p:nvSpPr>
        <p:spPr>
          <a:xfrm>
            <a:off x="7497873" y="0"/>
            <a:ext cx="4693822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7828064" y="311785"/>
            <a:ext cx="4363631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00000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SIMULATION RESULTS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7828064" y="664170"/>
          <a:ext cx="4033439" cy="3062806"/>
        </p:xfrm>
        <a:graphic>
          <a:graphicData uri="http://schemas.openxmlformats.org/drawingml/2006/table">
            <a:tbl>
              <a:tblPr/>
              <a:tblGrid>
                <a:gridCol w="2339321"/>
                <a:gridCol w="1694118"/>
              </a:tblGrid>
              <a:tr h="9701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Measure</a:t>
                      </a:r>
                      <a:endParaRPr lang="en-US" sz="150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Existing → AQUAROS PLUS</a:t>
                      </a:r>
                      <a:endParaRPr lang="en-US" sz="150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96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Average anomaly latency</a:t>
                      </a:r>
                      <a:endParaRPr lang="en-US" sz="150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10.86 → 0.22 windows</a:t>
                      </a:r>
                      <a:endParaRPr lang="en-US" sz="150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96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Anomalies sent within three windows</a:t>
                      </a:r>
                      <a:endParaRPr lang="en-US" sz="150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52.6% → 99.9%</a:t>
                      </a:r>
                      <a:endParaRPr lang="en-US" sz="150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3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Routine latency</a:t>
                      </a:r>
                      <a:endParaRPr lang="en-US" sz="150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11.05 → 11.39 windows</a:t>
                      </a:r>
                      <a:endParaRPr lang="en-US" sz="1500" dirty="0">
                        <a:latin typeface="Plus Jakarta Sans" pitchFamily="34" charset="0"/>
                        <a:ea typeface="Plus Jakarta Sans" pitchFamily="34" charset="0"/>
                        <a:cs typeface="Plus Jakarta Sans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828064" y="3839567"/>
            <a:ext cx="4033439" cy="419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References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7828064" y="4372967"/>
            <a:ext cx="4033439" cy="22056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1350"/>
              </a:spcAft>
              <a:buNone/>
            </a:pPr>
            <a:r>
              <a:rPr lang="en-US" sz="1100" kern="100" spc="1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Caroline Mary, A., Senthil Kumar, A.V., Saleh, O.S. (2024). “Packet Scheduling in the Underwater Network Using Active Priority and QLS-Based Energy-Efficient Backpressure Technique.” Lecture Notes in Networks and Systems, vol. 731, Springer. DOI: </a:t>
            </a:r>
            <a:r>
              <a:rPr lang="en-US" sz="1100" b="1" u="sng" kern="100" spc="11" dirty="0">
                <a:solidFill>
                  <a:srgbClr val="5B7083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https://doi.org/10.1007/978-981-99-4071-4_39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kern="100" spc="1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Ismail, M. et al. (2023). “A Novel Routing Protocol for Underwater Wireless Sensor Networks Based on Shifted Energy Efficiency and Priority (SHEEP).” Computer Communications, vol. 210, pp. 147–162. DOI: </a:t>
            </a:r>
            <a:r>
              <a:rPr lang="en-US" sz="1100" b="1" u="sng" kern="100" spc="11" dirty="0">
                <a:solidFill>
                  <a:srgbClr val="5B7083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https://doi.org/10.1016/j.comcom.2023.07.014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56697A"/>
                </a:solidFill>
                <a:latin typeface="Red Hat Mono" panose="02010509040201060303" pitchFamily="34" charset="0"/>
                <a:ea typeface="Red Hat Mono" panose="02010509040201060303" pitchFamily="34" charset="-122"/>
                <a:cs typeface="Red Hat Mono" panose="02010509040201060303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62A33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62A33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8292</Words>
  <Application>WPS Presentation</Application>
  <PresentationFormat>On-screen Show (16:9)</PresentationFormat>
  <Paragraphs>324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9" baseType="lpstr">
      <vt:lpstr>Arial</vt:lpstr>
      <vt:lpstr>SimSun</vt:lpstr>
      <vt:lpstr>Wingdings</vt:lpstr>
      <vt:lpstr>Red Hat Mono Medium</vt:lpstr>
      <vt:lpstr>Red Hat Mono Medium</vt:lpstr>
      <vt:lpstr>Red Hat Mono Medium</vt:lpstr>
      <vt:lpstr>Chakra Petch Bold</vt:lpstr>
      <vt:lpstr>Chakra Petch Bold</vt:lpstr>
      <vt:lpstr>Chakra Petch Bold</vt:lpstr>
      <vt:lpstr>Plus Jakarta Sans</vt:lpstr>
      <vt:lpstr>Plus Jakarta Sans</vt:lpstr>
      <vt:lpstr>Plus Jakarta Sans</vt:lpstr>
      <vt:lpstr>Chakra Petch SemiBold</vt:lpstr>
      <vt:lpstr>Chakra Petch SemiBold</vt:lpstr>
      <vt:lpstr>Chakra Petch SemiBold</vt:lpstr>
      <vt:lpstr>Plus Jakarta Sans Bold</vt:lpstr>
      <vt:lpstr>Plus Jakarta Sans Bold</vt:lpstr>
      <vt:lpstr>Plus Jakarta Sans Bold</vt:lpstr>
      <vt:lpstr>Red Hat Mono</vt:lpstr>
      <vt:lpstr>Red Hat Mono</vt:lpstr>
      <vt:lpstr>Red Hat Mono</vt:lpstr>
      <vt:lpstr>Jura</vt:lpstr>
      <vt:lpstr>Jura</vt:lpstr>
      <vt:lpstr>Jura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Shivani Dev Bahadur</cp:lastModifiedBy>
  <cp:revision>2</cp:revision>
  <dcterms:created xsi:type="dcterms:W3CDTF">2026-10-19T16:10:00Z</dcterms:created>
  <dcterms:modified xsi:type="dcterms:W3CDTF">2026-10-19T16:15:41Z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505AE3E547004EA3BAB2BA108CA5F318_12</vt:lpwstr>
  </property>
</Properties>
</file>