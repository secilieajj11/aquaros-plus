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Static baseline</c:v>
                </c:pt>
              </c:strCache>
            </c:strRef>
          </c:tx>
          <c:spPr>
            <a:solidFill>
              <a:srgbClr val="DC4A3E"/>
            </a:solidFill>
          </c:spPr>
          <c:cat>
            <c:strRef>
              <c:f>Sheet1!$A$2:$A$3</c:f>
              <c:strCache>
                <c:ptCount val="2"/>
                <c:pt idx="0">
                  <c:v>Within 3 windows</c:v>
                </c:pt>
                <c:pt idx="1">
                  <c:v>Delivered before end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52.6</c:v>
                </c:pt>
                <c:pt idx="1">
                  <c:v>89.2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8E3"/>
            </a:solidFill>
          </a:ln>
        </c:spPr>
        <c:txPr>
          <a:bodyPr/>
          <a:lstStyle/>
          <a:p>
            <a:pPr>
              <a:defRPr sz="1200">
                <a:solidFill>
                  <a:srgbClr val="0B1F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C3D8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3707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0B1F33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0B1F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Mean anomaly latency (windows)</c:v>
                </c:pt>
              </c:strCache>
            </c:strRef>
          </c:tx>
          <c:spPr>
            <a:solidFill>
              <a:srgbClr val="DC4A3E"/>
            </a:solidFill>
          </c:spPr>
          <c:dPt>
            <c:idx val="2"/>
            <c:spPr>
              <a:solidFill>
                <a:srgbClr val="0B9484"/>
              </a:solidFill>
            </c:spPr>
          </c:dPt>
          <c:dPt>
            <c:idx val="3"/>
            <c:spPr>
              <a:solidFill>
                <a:srgbClr val="0B9484"/>
              </a:solidFill>
            </c:spPr>
          </c:dPt>
          <c:cat>
            <c:strRef>
              <c:f>Sheet1!$A$2:$A$5</c:f>
              <c:strCache>
                <c:ptCount val="4"/>
                <c:pt idx="0">
                  <c:v>Static baseline</c:v>
                </c:pt>
                <c:pt idx="1">
                  <c:v>Static + aging</c:v>
                </c:pt>
                <c:pt idx="2">
                  <c:v>AQUAROS PLUS</c:v>
                </c:pt>
                <c:pt idx="3">
                  <c:v>AQUAROS + aging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10.86</c:v>
                </c:pt>
                <c:pt idx="1">
                  <c:v>10.93</c:v>
                </c:pt>
                <c:pt idx="2">
                  <c:v>0.22</c:v>
                </c:pt>
                <c:pt idx="3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8E3"/>
            </a:solidFill>
          </a:ln>
        </c:spPr>
        <c:txPr>
          <a:bodyPr/>
          <a:lstStyle/>
          <a:p>
            <a:pPr>
              <a:defRPr sz="1200">
                <a:solidFill>
                  <a:srgbClr val="0B1F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0"/>
          <c:min val="0.0"/>
        </c:scaling>
        <c:delete val="0"/>
        <c:axPos val="l"/>
        <c:majorGridlines>
          <c:spPr>
            <a:ln>
              <a:solidFill>
                <a:srgbClr val="C3D8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3707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0B1F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Static baseline</c:v>
                </c:pt>
              </c:strCache>
            </c:strRef>
          </c:tx>
          <c:spPr>
            <a:solidFill>
              <a:srgbClr val="DC4A3E"/>
            </a:solidFill>
          </c:spPr>
          <c:cat>
            <c:strRef>
              <c:f>Sheet1!$A$2:$A$3</c:f>
              <c:strCache>
                <c:ptCount val="2"/>
                <c:pt idx="0">
                  <c:v>Within 3 windows</c:v>
                </c:pt>
                <c:pt idx="1">
                  <c:v>Delivered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52.6</c:v>
                </c:pt>
                <c:pt idx="1">
                  <c:v>89.2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AQUAROS PLUS</c:v>
                </c:pt>
              </c:strCache>
            </c:strRef>
          </c:tx>
          <c:spPr>
            <a:solidFill>
              <a:srgbClr val="0B9484"/>
            </a:solidFill>
          </c:spPr>
          <c:cat>
            <c:strRef>
              <c:f>Sheet1!$A$2:$A$3</c:f>
              <c:strCache>
                <c:ptCount val="2"/>
                <c:pt idx="0">
                  <c:v>Within 3 windows</c:v>
                </c:pt>
                <c:pt idx="1">
                  <c:v>Delivered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99.9</c:v>
                </c:pt>
                <c:pt idx="1">
                  <c:v>99.9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>
                  <a:solidFill>
                    <a:srgbClr val="0B1F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3D8E3"/>
            </a:solidFill>
          </a:ln>
        </c:spPr>
        <c:txPr>
          <a:bodyPr/>
          <a:lstStyle/>
          <a:p>
            <a:pPr>
              <a:defRPr sz="1200">
                <a:solidFill>
                  <a:srgbClr val="0B1F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C3D8E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3707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0B1F33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0B1F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0"/>
            <a:ext cx="14630400" cy="6858000"/>
          </a:xfrm>
          <a:prstGeom prst="rect">
            <a:avLst/>
          </a:prstGeom>
          <a:ln w="19050">
            <a:solidFill>
              <a:srgbClr val="F1F7FA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6309360" y="0"/>
            <a:ext cx="5943600" cy="6858000"/>
          </a:xfrm>
          <a:prstGeom prst="rect">
            <a:avLst/>
          </a:prstGeom>
          <a:solidFill>
            <a:srgbClr val="F1F7FA">
              <a:alpha val="3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F1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943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9484"/>
                </a:solidFill>
                <a:latin typeface="Calibri"/>
              </a:rPr>
              <a:t>OPERATING SYSTEMS PROJECT  ·  2026–27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6035040" cy="1371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600" b="1" i="0">
                <a:solidFill>
                  <a:srgbClr val="0B1F33"/>
                </a:solidFill>
                <a:latin typeface="Calibri"/>
              </a:rPr>
              <a:t>AQUAROS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603504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600" b="1" i="0">
                <a:solidFill>
                  <a:srgbClr val="0B9484"/>
                </a:solidFill>
                <a:latin typeface="Calibri"/>
              </a:rPr>
              <a:t>PLUS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56692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53707F"/>
                </a:solidFill>
                <a:latin typeface="Calibri"/>
              </a:rPr>
              <a:t>Content-aware priority scheduling for underwater acoustic sensor networks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754880"/>
            <a:ext cx="1097280" cy="45720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37760"/>
            <a:ext cx="5486400" cy="822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3"/>
                </a:solidFill>
                <a:latin typeface="Calibri"/>
              </a:rPr>
              <a:t>J.J. Secilia</a:t>
            </a:r>
            <a:r>
              <a:rPr sz="1500" b="0" i="0">
                <a:solidFill>
                  <a:srgbClr val="53707F"/>
                </a:solidFill>
                <a:latin typeface="Calibri"/>
              </a:rPr>
              <a:t>  ·  RA2511026020301</a:t>
            </a:r>
          </a:p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B1F33"/>
                </a:solidFill>
                <a:latin typeface="Calibri"/>
              </a:rPr>
              <a:t>D. Shivani</a:t>
            </a:r>
            <a:r>
              <a:rPr sz="1500" b="0" i="0">
                <a:solidFill>
                  <a:srgbClr val="53707F"/>
                </a:solidFill>
                <a:latin typeface="Calibri"/>
              </a:rPr>
              <a:t>  ·  RA2511026020265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54864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II Year CSE-AIML · SRM Institute of Science and Technology, Ramapuram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THE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Underwater sensors can only talk in short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3657600" cy="6400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002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9484"/>
                </a:solidFill>
                <a:latin typeface="Calibri"/>
              </a:rPr>
              <a:t>Sensors keep measuring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84248"/>
            <a:ext cx="3328416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Temperature, salinity, pressure and hydrophone level are logged continuously.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Readings are stored in a buffer while no link is available.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41732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417320"/>
            <a:ext cx="365760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002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2820A"/>
                </a:solidFill>
                <a:latin typeface="Calibri"/>
              </a:rPr>
              <a:t>Acoustic links are scarce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84248"/>
            <a:ext cx="3328416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Limited bandwidth and short communication windows.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Only a handful of messages fit in each window, and ~10% are lost.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417320"/>
            <a:ext cx="36576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417320"/>
            <a:ext cx="365760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6002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C4A3E"/>
                </a:solidFill>
                <a:latin typeface="Calibri"/>
              </a:rPr>
              <a:t>Someone must choose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1984248"/>
            <a:ext cx="3328416" cy="169163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When a window opens, the system decides which buffered messages go first.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That is exactly an OS scheduling decision.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02336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133088"/>
            <a:ext cx="54864" cy="877824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96512"/>
            <a:ext cx="2377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6 + 2 + 1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626864"/>
            <a:ext cx="23774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sensor, relay and sink nodes simulated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02336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4133088"/>
            <a:ext cx="54864" cy="877824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096512"/>
            <a:ext cx="2377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4 /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626864"/>
            <a:ext cx="23774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messages per sensor node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4023360"/>
            <a:ext cx="26517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80760" y="4133088"/>
            <a:ext cx="54864" cy="877824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096512"/>
            <a:ext cx="2377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626864"/>
            <a:ext cx="237744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transmission loss probability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69680" y="4023360"/>
            <a:ext cx="28346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869680" y="4133088"/>
            <a:ext cx="54864" cy="877824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59" y="4096512"/>
            <a:ext cx="256032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59" y="4626864"/>
            <a:ext cx="2560320" cy="49377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of readings are anomalies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349240"/>
            <a:ext cx="11201400" cy="86868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394960"/>
            <a:ext cx="1078992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0B9484"/>
                </a:solidFill>
                <a:latin typeface="Calibri"/>
              </a:rPr>
              <a:t>OS analogy:  </a:t>
            </a:r>
            <a:r>
              <a:rPr sz="1500" b="0" i="0">
                <a:solidFill>
                  <a:srgbClr val="0B1F33"/>
                </a:solidFill>
                <a:latin typeface="Calibri"/>
              </a:rPr>
              <a:t>buffered message = task  ·  transmit queue = ready queue  ·  window capacity = resource limit  ·  retry after loss = rescheduling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The problem: priority ignores what the reading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11155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53707F"/>
                </a:solidFill>
                <a:latin typeface="Calibri"/>
              </a:rPr>
              <a:t>In a static-priority baseline, priority depends only on sensor type. A dangerous reading and a normal reading from the same sensor get the same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740664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STATIC-PRIORITY TRANSMIT QUEUE  ·  capacity = 4 per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hydrophone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5146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56946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hydrophone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9260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5146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56946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salinity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9260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59" y="251460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79" y="256946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salinity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79" y="292608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2044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7530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salinity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352044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FDE6E3"/>
          </a:solidFill>
          <a:ln w="25400">
            <a:solidFill>
              <a:srgbClr val="D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357530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DC4A3E"/>
                </a:solidFill>
                <a:latin typeface="Calibri"/>
              </a:rPr>
              <a:t>salinity ⚠ 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9319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97680" y="352044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5875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400" y="3575304"/>
            <a:ext cx="1554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1F33"/>
                </a:solidFill>
                <a:latin typeface="Calibri"/>
              </a:rPr>
              <a:t>temperature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93192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53707F"/>
                </a:solidFill>
                <a:latin typeface="Calibri"/>
              </a:rPr>
              <a:t>priority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572000"/>
            <a:ext cx="704088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Window 1 sends only the first 4. </a:t>
            </a:r>
            <a:r>
              <a:rPr sz="1300" b="0" i="0">
                <a:solidFill>
                  <a:srgbClr val="0B1F33"/>
                </a:solidFill>
                <a:latin typeface="Calibri"/>
              </a:rPr>
              <a:t>The anomaly sits at position 6 behind routine messages and must wait for a later window.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2011680"/>
            <a:ext cx="35661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38160" y="2011680"/>
            <a:ext cx="356616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02752" y="2194560"/>
            <a:ext cx="323697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C4A3E"/>
                </a:solidFill>
                <a:latin typeface="Calibri"/>
              </a:rPr>
              <a:t>Same score, different urgency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578608"/>
            <a:ext cx="3236976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A 40 bar pressure spike scores the same as a 6 bar normal reading.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3703320"/>
            <a:ext cx="35661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38160" y="3703320"/>
            <a:ext cx="356616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3886200"/>
            <a:ext cx="323697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2820A"/>
                </a:solidFill>
                <a:latin typeface="Calibri"/>
              </a:rPr>
              <a:t>Capacity is the bottleneck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270248"/>
            <a:ext cx="32369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The scheduler only reorders; so order is everything when the window is small.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440680"/>
            <a:ext cx="11201400" cy="777240"/>
          </a:xfrm>
          <a:prstGeom prst="roundRect">
            <a:avLst>
              <a:gd name="adj" fmla="val 6000"/>
            </a:avLst>
          </a:prstGeom>
          <a:solidFill>
            <a:srgbClr val="FDE6E3"/>
          </a:solidFill>
          <a:ln w="12700">
            <a:solidFill>
              <a:srgbClr val="D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458968"/>
            <a:ext cx="10789920" cy="7315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600" b="1" i="0">
                <a:solidFill>
                  <a:srgbClr val="DC4A3E"/>
                </a:solidFill>
                <a:latin typeface="Calibri"/>
              </a:rPr>
              <a:t>Result: </a:t>
            </a:r>
            <a:r>
              <a:rPr sz="1600" b="0" i="0">
                <a:solidFill>
                  <a:srgbClr val="0B1F33"/>
                </a:solidFill>
                <a:latin typeface="Calibri"/>
              </a:rPr>
              <a:t>important anomalies are buffered behind routine data exactly when timely delivery matters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PROBLEM, QUANTIFIED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How bad is it? The baseline in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27048"/>
            <a:ext cx="54864" cy="1197864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0472"/>
            <a:ext cx="2468880" cy="77952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10.86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6846"/>
            <a:ext cx="2468880" cy="6377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mean anomaly latency (windows)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417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27048"/>
            <a:ext cx="54864" cy="1197864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490472"/>
            <a:ext cx="2468880" cy="77952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52.6%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96846"/>
            <a:ext cx="2468880" cy="6377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anomalies delivered within 3 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432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527048"/>
            <a:ext cx="54864" cy="1197864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490472"/>
            <a:ext cx="2468880" cy="77952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37.7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196846"/>
            <a:ext cx="2468880" cy="6377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95th-percentile anomaly latency (windows)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5603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527048"/>
            <a:ext cx="54864" cy="1197864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1490472"/>
            <a:ext cx="2286000" cy="77952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89.2%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196846"/>
            <a:ext cx="2286000" cy="63779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anomalies delivered at all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502920" y="3063240"/>
          <a:ext cx="566928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355080" y="306324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49377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9484"/>
                </a:solidFill>
                <a:latin typeface="Calibri"/>
              </a:rPr>
              <a:t>What the numbers say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11880"/>
            <a:ext cx="493776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0B1F33"/>
                </a:solidFill>
                <a:latin typeface="Calibri"/>
              </a:rPr>
              <a:t>•  Nearly half of anomalies wait longer than 3 windows.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0B1F33"/>
                </a:solidFill>
                <a:latin typeface="Calibri"/>
              </a:rPr>
              <a:t>•  About 1 in 10 anomalies never arrives before the run ends.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0B1F33"/>
                </a:solidFill>
                <a:latin typeface="Calibri"/>
              </a:rPr>
              <a:t>•  The worst 5% wait 37+ windows, far too late for alerts.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0B1F33"/>
                </a:solidFill>
                <a:latin typeface="Calibri"/>
              </a:rPr>
              <a:t>•  Adding QLS-inspired aging makes it worse: only 35.4% within 3 windows.</a:t>
            </a:r>
          </a:p>
          <a:p>
            <a:pPr algn="l">
              <a:spcAft>
                <a:spcPts val="700"/>
              </a:spcAft>
            </a:pPr>
            <a:r>
              <a:rPr sz="1400" b="0" i="0">
                <a:solidFill>
                  <a:srgbClr val="0B1F33"/>
                </a:solidFill>
                <a:latin typeface="Calibri"/>
              </a:rPr>
              <a:t>•  Routine messages wait about 11 windows in every setup, so the network is overloaded.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Goal: let the value of the reading decide the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201400" cy="109728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10789920" cy="10515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B1F33"/>
                </a:solidFill>
                <a:latin typeface="Calibri"/>
              </a:rPr>
              <a:t>Design, implement and evaluate a content-aware priority layer that boosts abnormal readings, without changing the queue, MAC or modem layers.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90779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Bounded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2044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Priority adjusts with deviation from the normal range, capped at 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743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8346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90779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Keep normal data stable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52044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In-range readings keep their original base priority.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274320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83464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290779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Realistic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52044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Multi-node, two-hop network with limited, lossy windows.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262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1772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69087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Fair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30352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Anomaly latency, delivery rate and routine latency per policy.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5262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461772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469087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Interactive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530352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Side-by-side browser dashboard of both schedulers.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4526280"/>
            <a:ext cx="36118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617720"/>
            <a:ext cx="91440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690872"/>
            <a:ext cx="25603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Link to OS theory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5303520"/>
            <a:ext cx="3291840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Priority scheduling, aging, starvation, resource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The solution: AQUAROS PLUS content-aware scoring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6692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SCORING 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5303520" cy="17373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3707F"/>
                </a:solidFill>
                <a:latin typeface="Calibri"/>
              </a:rPr>
              <a:t>In range:  </a:t>
            </a:r>
            <a:r>
              <a:rPr sz="1400" b="0" i="0">
                <a:solidFill>
                  <a:srgbClr val="0B1F33"/>
                </a:solidFill>
                <a:latin typeface="Consolas"/>
              </a:rPr>
              <a:t>score = base priority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53707F"/>
                </a:solidFill>
                <a:latin typeface="Calibri"/>
              </a:rPr>
              <a:t>Out of range: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0B1F33"/>
                </a:solidFill>
                <a:latin typeface="Consolas"/>
              </a:rPr>
              <a:t>deviation = max(low − v, v − high) / (high − low)</a:t>
            </a:r>
          </a:p>
          <a:p>
            <a:pPr algn="l">
              <a:spcAft>
                <a:spcPts val="500"/>
              </a:spcAft>
            </a:pPr>
            <a:r>
              <a:rPr sz="1200" b="0" i="0">
                <a:solidFill>
                  <a:srgbClr val="0B1F33"/>
                </a:solidFill>
                <a:latin typeface="Consolas"/>
              </a:rPr>
              <a:t>boost = min(10 − base, 6 + 4 × deviation)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0B9484"/>
                </a:solidFill>
                <a:latin typeface="Consolas"/>
              </a:rPr>
              <a:t>score = min(10, base + boost)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566928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2820A"/>
                </a:solidFill>
                <a:latin typeface="Calibri"/>
              </a:rPr>
              <a:t>WORKED EXAMPLE  ·  PRESSURE SENSOR (range 0–10 bar, base 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60520"/>
            <a:ext cx="2468880" cy="91440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87952"/>
            <a:ext cx="2286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6 bar  (normal)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26280"/>
            <a:ext cx="228600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0B1F33"/>
                </a:solidFill>
                <a:latin typeface="Calibri"/>
              </a:rPr>
              <a:t>score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416052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DE6E3"/>
          </a:solidFill>
          <a:ln w="12700">
            <a:solidFill>
              <a:srgbClr val="DC4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187952"/>
            <a:ext cx="23774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DC4A3E"/>
                </a:solidFill>
                <a:latin typeface="Calibri"/>
              </a:rPr>
              <a:t>40 bar  (anomaly)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4526280"/>
            <a:ext cx="2377440" cy="5029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DC4A3E"/>
                </a:solidFill>
                <a:latin typeface="Calibri"/>
              </a:rPr>
              <a:t>score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5303520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50" b="0" i="0">
                <a:solidFill>
                  <a:srgbClr val="53707F"/>
                </a:solidFill>
                <a:latin typeface="Calibri"/>
              </a:rPr>
              <a:t>deviation = (40 − 10)/10 = 3,  boost = min(8, 6 + 12) = 8,  score = min(10, 2 + 8) = 10. The spike now jumps ahead of routine traffic.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37160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6400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554480"/>
            <a:ext cx="497433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9484"/>
                </a:solidFill>
                <a:latin typeface="Calibri"/>
              </a:rPr>
              <a:t>Bounded and predictable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1938528"/>
            <a:ext cx="497433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Minimum boost of 6 for any anomaly, grows with severity, never exceeds priority 10.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926080"/>
            <a:ext cx="53035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926080"/>
            <a:ext cx="530352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108960"/>
            <a:ext cx="497433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2820A"/>
                </a:solidFill>
                <a:latin typeface="Calibri"/>
              </a:rPr>
              <a:t>Cheap to compute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3493008"/>
            <a:ext cx="4974336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O(1) per reading, computed locally at the origin node with no extra transmissions.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480560"/>
            <a:ext cx="53035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4480560"/>
            <a:ext cx="530352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4663440"/>
            <a:ext cx="497433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C4A3E"/>
                </a:solidFill>
                <a:latin typeface="Calibri"/>
              </a:rPr>
              <a:t>Drop-in layer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65392" y="5047488"/>
            <a:ext cx="4974336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Only the priority value handed to the queue changes. Queue, MAC and modem layers stay as they are; ties break by arrival time (FCFS).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SOLUTION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Architecture: one new layer, everything else untouched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6751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640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53707F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463040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1F33"/>
                </a:solidFill>
                <a:latin typeface="Calibri"/>
              </a:rPr>
              <a:t>Routing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82880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SHEEP-inspired · simplified residual-energy next-hop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95728"/>
            <a:ext cx="6675120" cy="896112"/>
          </a:xfrm>
          <a:prstGeom prst="roundRect">
            <a:avLst>
              <a:gd name="adj" fmla="val 6000"/>
            </a:avLst>
          </a:prstGeom>
          <a:solidFill>
            <a:srgbClr val="D6F2EE"/>
          </a:solidFill>
          <a:ln w="3175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41448"/>
            <a:ext cx="640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0B9484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487168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1F33"/>
                </a:solidFill>
                <a:latin typeface="Calibri"/>
              </a:rPr>
              <a:t>Content-aware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52928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AQUAROS PLUS · compares reading with normal range → priority score (NEW)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419856"/>
            <a:ext cx="66751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65576"/>
            <a:ext cx="640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53707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11296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1F33"/>
                </a:solidFill>
                <a:latin typeface="Calibri"/>
              </a:rPr>
              <a:t>Queue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77056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QLS-inspired · picks highest score first, optional aging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443984"/>
            <a:ext cx="66751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89704"/>
            <a:ext cx="64008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53707F"/>
                </a:solidFill>
                <a:latin typeface="Calibri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535424"/>
            <a:ext cx="57607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 i="0">
                <a:solidFill>
                  <a:srgbClr val="0B1F33"/>
                </a:solidFill>
                <a:latin typeface="Calibri"/>
              </a:rPr>
              <a:t>Link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901184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Communication-window access and modem behaviour (simulated)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32120"/>
            <a:ext cx="6675120" cy="68580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550408"/>
            <a:ext cx="640080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AQUAROS PLUS sits above the unchanged queue: it only supplies the priority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325880"/>
            <a:ext cx="42062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END-TO-END WORKFLOW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79" y="169164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589520" y="1783080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0" y="178308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173736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Sensor reading generated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79" y="233172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D6F2EE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589520" y="2423160"/>
            <a:ext cx="320040" cy="320040"/>
          </a:xfrm>
          <a:prstGeom prst="ellipse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242316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377439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Scored at origin node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297180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89520" y="3063240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0" y="306324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301752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Enters transmit queue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79" y="3611879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89520" y="3703320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0" y="370332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657599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Window opens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79" y="425196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589520" y="4343400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0" y="4343400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4297680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Top-N by score sent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98079" y="4892040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89520" y="4983479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0" y="4983479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46720" y="4937759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Relay queues &amp; forwards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498079" y="5532119"/>
            <a:ext cx="42062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589520" y="5623559"/>
            <a:ext cx="320040" cy="320040"/>
          </a:xfrm>
          <a:prstGeom prst="ellipse">
            <a:avLst/>
          </a:prstGeom>
          <a:solidFill>
            <a:srgbClr val="C3D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0" y="5623559"/>
            <a:ext cx="32004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B1F33"/>
                </a:solidFill>
                <a:latin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46720" y="5577839"/>
            <a:ext cx="356616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Sink records delivery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6172200"/>
            <a:ext cx="42062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3707F"/>
                </a:solidFill>
                <a:latin typeface="Calibri"/>
              </a:rPr>
              <a:t>Lost messages stay eligible for retry in later windows.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SOLUTION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Baseline vs AQUAROS PLUS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1201400" cy="54864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301752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53707F"/>
                </a:solidFill>
                <a:latin typeface="Calibri"/>
              </a:rPr>
              <a:t>Aspect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37160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C4A3E"/>
                </a:solidFill>
                <a:latin typeface="Calibri"/>
              </a:rPr>
              <a:t>Static-priority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371600"/>
            <a:ext cx="38404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AQUAROS PLUS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39" y="2103120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103120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11680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Priority 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2011680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Fixed by sensor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2011680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Based on reading and normal range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670048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2761488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2761488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70048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In-range readings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670048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Fixed type priority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2670048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Same base priority kept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28416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49039" y="3419856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3419856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328416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Out-of-range readings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328416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No extra boost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328416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Boost, capped at 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3986784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4078224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0" y="4078224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986784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Window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986784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Anomaly may wait behind routine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3986784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High-scoring anomaly selected early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645152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749039" y="4736592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736592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4645152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Adaptability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645152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Priority table set manually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4645152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Score follows the reported value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303520"/>
            <a:ext cx="112014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749039" y="5394959"/>
            <a:ext cx="45720" cy="38404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772400" y="5394959"/>
            <a:ext cx="45720" cy="38404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303520"/>
            <a:ext cx="30175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Downstream layers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5303520"/>
            <a:ext cx="384048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Queue and link as simulated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5303520"/>
            <a:ext cx="3749039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Identical, nothing changed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035040"/>
            <a:ext cx="11201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53707F"/>
                </a:solidFill>
                <a:latin typeface="Calibri"/>
              </a:rPr>
              <a:t>Comparison is against the static-priority baseline built for this project, not a claim about every ros_acomms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Live dashboard: the same buffer, two schedulers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pic>
        <p:nvPicPr>
          <p:cNvPr id="7" name="Picture 6" descr="que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589520" cy="3557588"/>
          </a:xfrm>
          <a:prstGeom prst="rect">
            <a:avLst/>
          </a:prstGeom>
          <a:ln w="19050">
            <a:solidFill>
              <a:srgbClr val="0B948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937760"/>
            <a:ext cx="7589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3707F"/>
                </a:solidFill>
                <a:latin typeface="Calibri"/>
              </a:rPr>
              <a:t>Left: static priority (ros_acomms).  Right: AQUAROS PLUS intelligence layer.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325880"/>
            <a:ext cx="338328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508760"/>
            <a:ext cx="305409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DC4A3E"/>
                </a:solidFill>
                <a:latin typeface="Calibri"/>
              </a:rPr>
              <a:t>Static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892807"/>
            <a:ext cx="3054096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Hydrophone (8) first. The salinity anomaly (3) is stuck at position 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3063240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3063240"/>
            <a:ext cx="3383280" cy="6400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3246120"/>
            <a:ext cx="305409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B9484"/>
                </a:solidFill>
                <a:latin typeface="Calibri"/>
              </a:rPr>
              <a:t>AQUAROS PLUS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30168"/>
            <a:ext cx="3054096" cy="9601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Pressure and salinity anomalies jump to the top with score 10.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5440680"/>
            <a:ext cx="11201400" cy="82296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458968"/>
            <a:ext cx="107899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Controls: </a:t>
            </a:r>
            <a:r>
              <a:rPr sz="1400" b="0" i="0">
                <a:solidFill>
                  <a:srgbClr val="0B1F33"/>
                </a:solidFill>
                <a:latin typeface="Calibri"/>
              </a:rPr>
              <a:t>adjustable window capacity · open communication window · inject any reading (e.g. 40 bar pressure) · guided 2-minute demo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INTERACTIVE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Result on the dashboard: 3 windows vs 1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pic>
        <p:nvPicPr>
          <p:cNvPr id="7" name="Picture 6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7589520" cy="3557588"/>
          </a:xfrm>
          <a:prstGeom prst="rect">
            <a:avLst/>
          </a:prstGeom>
          <a:ln w="19050">
            <a:solidFill>
              <a:srgbClr val="0B948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937760"/>
            <a:ext cx="75895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3707F"/>
                </a:solidFill>
                <a:latin typeface="Calibri"/>
              </a:rPr>
              <a:t>Both buffers fully drained: sent messages shown as chips with their window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132588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0" y="1435607"/>
            <a:ext cx="54864" cy="832103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399032"/>
            <a:ext cx="31089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DC4A3E"/>
                </a:solidFill>
                <a:latin typeface="Calibri"/>
              </a:rPr>
              <a:t>w3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1904238"/>
            <a:ext cx="31089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existing system: pressure anomaly delivered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514600"/>
            <a:ext cx="33832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2624328"/>
            <a:ext cx="54864" cy="832103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587752"/>
            <a:ext cx="31089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w1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092958"/>
            <a:ext cx="31089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AQUAROS PLUS: same anomaly delivered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3703320"/>
            <a:ext cx="338328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3703320"/>
            <a:ext cx="338328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3886200"/>
            <a:ext cx="305409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C2820A"/>
                </a:solidFill>
                <a:latin typeface="Calibri"/>
              </a:rPr>
              <a:t>3× 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4270248"/>
            <a:ext cx="30540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B1F33"/>
                </a:solidFill>
                <a:latin typeface="Calibri"/>
              </a:rPr>
              <a:t>Critical message out two windows earlier.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440680"/>
            <a:ext cx="11201400" cy="82296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458968"/>
            <a:ext cx="1078992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Takeaway: </a:t>
            </a:r>
            <a:r>
              <a:rPr sz="1400" b="0" i="0">
                <a:solidFill>
                  <a:srgbClr val="0B1F33"/>
                </a:solidFill>
                <a:latin typeface="Calibri"/>
              </a:rPr>
              <a:t>the dashboard reports it in one sentence: the pressure anomaly (25.4 bar) took 3 windows under the existing system but only 1 under AQUAROS PLUS. It illustrates the concept; the large metrics come from the Python simulation.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OS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Operating-system concepts the project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Buffered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3716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9484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39" y="13716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Process /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716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Transmit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3716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9484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13716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Ready queue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2860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860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Window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2860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C2820A"/>
                </a:solidFill>
                <a:latin typeface="Calibr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39" y="22860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C2820A"/>
                </a:solidFill>
                <a:latin typeface="Calibri"/>
              </a:rPr>
              <a:t>Resource limit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2860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2860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Static priority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2860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C2820A"/>
                </a:solidFill>
                <a:latin typeface="Calibr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2860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C2820A"/>
                </a:solidFill>
                <a:latin typeface="Calibri"/>
              </a:rPr>
              <a:t>Static priority scheduling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2004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004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Content-aware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32004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C4A3E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39" y="32004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C4A3E"/>
                </a:solidFill>
                <a:latin typeface="Calibri"/>
              </a:rPr>
              <a:t>Dynamic priority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2004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Arrival-time tie-break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2004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C4A3E"/>
                </a:solidFill>
                <a:latin typeface="Calibr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32004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C4A3E"/>
                </a:solidFill>
                <a:latin typeface="Calibri"/>
              </a:rPr>
              <a:t>FCFS tie-breaking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41148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148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Optional queue 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41148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0B9484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39" y="41148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Aging vs starvation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411480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1148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Retry after 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114800"/>
            <a:ext cx="45720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C2820A"/>
                </a:solidFill>
                <a:latin typeface="Calibri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114800"/>
            <a:ext cx="2377440" cy="7772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C2820A"/>
                </a:solidFill>
                <a:latin typeface="Calibri"/>
              </a:rPr>
              <a:t>Rescheduling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5120640"/>
            <a:ext cx="54864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5120640"/>
            <a:ext cx="548640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512" y="5303520"/>
            <a:ext cx="51572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2820A"/>
                </a:solidFill>
                <a:latin typeface="Calibri"/>
              </a:rPr>
              <a:t>Starvation trade-off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" y="5687568"/>
            <a:ext cx="515721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B1F33"/>
                </a:solidFill>
                <a:latin typeface="Calibri"/>
              </a:rPr>
              <a:t>Aging weight 0.1 had no visible effect; weight 0.5 raised anomaly latency to ~2.6 windows.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5120640"/>
            <a:ext cx="553212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72200" y="5120640"/>
            <a:ext cx="553212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36792" y="5303520"/>
            <a:ext cx="520293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DC4A3E"/>
                </a:solidFill>
                <a:latin typeface="Calibri"/>
              </a:rPr>
              <a:t>Not a kernel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36792" y="5687568"/>
            <a:ext cx="5202936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B1F33"/>
                </a:solidFill>
                <a:latin typeface="Calibri"/>
              </a:rPr>
              <a:t>It runs on a host OS; this is message scheduling, not CPU task scheduling.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EVALUATION (SIMULATED)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Results: anomalies go from 10.86 windows to 0.22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02920" y="1737360"/>
          <a:ext cx="55778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1325880"/>
            <a:ext cx="557784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Mean anomaly latency (lower is better)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737360"/>
          <a:ext cx="54864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Anomaly delivery, % (higher is better)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6636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76088"/>
            <a:ext cx="54864" cy="832103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239512"/>
            <a:ext cx="24231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50×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744718"/>
            <a:ext cx="24231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lower mean anomaly latency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516636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5276088"/>
            <a:ext cx="54864" cy="832103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5239512"/>
            <a:ext cx="24231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0B9484"/>
                </a:solidFill>
                <a:latin typeface="Calibri"/>
              </a:rPr>
              <a:t>99.9%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5744718"/>
            <a:ext cx="24231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anomalies within 3 windows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516636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5276088"/>
            <a:ext cx="54864" cy="832103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5239512"/>
            <a:ext cx="24231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C2820A"/>
                </a:solidFill>
                <a:latin typeface="Calibri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744718"/>
            <a:ext cx="24231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p95 latency vs 37.7 baseline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5166360"/>
            <a:ext cx="269748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5276088"/>
            <a:ext cx="54864" cy="832103"/>
          </a:xfrm>
          <a:prstGeom prst="rect">
            <a:avLst/>
          </a:prstGeom>
          <a:solidFill>
            <a:srgbClr val="5370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19" y="5239512"/>
            <a:ext cx="2423160" cy="57835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000" b="1" i="0">
                <a:solidFill>
                  <a:srgbClr val="53707F"/>
                </a:solidFill>
                <a:latin typeface="Calibri"/>
              </a:rPr>
              <a:t>40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5744718"/>
            <a:ext cx="2423160" cy="473201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53707F"/>
                </a:solidFill>
                <a:latin typeface="Calibri"/>
              </a:rPr>
              <a:t>random seeds, 200 windows each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EVALUATION (SIMULATED)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The cost is small: routine messages barely notice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3707F"/>
                </a:solidFill>
                <a:latin typeface="Calibri"/>
              </a:rPr>
              <a:t>Configuration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371600"/>
            <a:ext cx="201167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3707F"/>
                </a:solidFill>
                <a:latin typeface="Calibri"/>
              </a:rPr>
              <a:t>Mean anomaly latency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371600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3707F"/>
                </a:solidFill>
                <a:latin typeface="Calibri"/>
              </a:rPr>
              <a:t>Within 3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1371600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3707F"/>
                </a:solidFill>
                <a:latin typeface="Calibri"/>
              </a:rPr>
              <a:t>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371600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53707F"/>
                </a:solidFill>
                <a:latin typeface="Calibri"/>
              </a:rPr>
              <a:t>Routine latency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938528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38528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Static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938528"/>
            <a:ext cx="201167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10.86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38528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52.6%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19" y="1938528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89.2%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1938528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11.05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505456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505456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Static + QLS-inspired 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505456"/>
            <a:ext cx="201167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10.93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505456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35.4%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505456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89.4%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2505456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B1F33"/>
                </a:solidFill>
                <a:latin typeface="Calibri"/>
              </a:rPr>
              <a:t>11.05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072384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D6F2EE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072384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AQUAROS PLUS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072384"/>
            <a:ext cx="201167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0.22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072384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99.9%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3072384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99.9%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3072384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11.39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639312"/>
            <a:ext cx="10881360" cy="502920"/>
          </a:xfrm>
          <a:prstGeom prst="roundRect">
            <a:avLst>
              <a:gd name="adj" fmla="val 6000"/>
            </a:avLst>
          </a:prstGeom>
          <a:solidFill>
            <a:srgbClr val="D6F2EE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639312"/>
            <a:ext cx="320040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1F33"/>
                </a:solidFill>
                <a:latin typeface="Calibri"/>
              </a:rPr>
              <a:t>AQUAROS PLUS + aging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3639312"/>
            <a:ext cx="2011679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0.22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639312"/>
            <a:ext cx="173736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99.9%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19" y="3639312"/>
            <a:ext cx="155448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99.9%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639312"/>
            <a:ext cx="192024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B9484"/>
                </a:solidFill>
                <a:latin typeface="Calibri"/>
              </a:rPr>
              <a:t>11.39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3891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389120"/>
            <a:ext cx="365760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" y="45720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2820A"/>
                </a:solidFill>
                <a:latin typeface="Calibri"/>
              </a:rPr>
              <a:t>Routine +0.34 windows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" y="4956048"/>
            <a:ext cx="3328416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B1F33"/>
                </a:solidFill>
                <a:latin typeface="Calibri"/>
              </a:rPr>
              <a:t>Routine latency rises only from 11.05 to 11.39, a ~3% cost for a 50× anomaly gain.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70248" y="43891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70248" y="4389120"/>
            <a:ext cx="365760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45720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C4A3E"/>
                </a:solidFill>
                <a:latin typeface="Calibri"/>
              </a:rPr>
              <a:t>Overloaded by design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4956048"/>
            <a:ext cx="3328416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B1F33"/>
                </a:solidFill>
                <a:latin typeface="Calibri"/>
              </a:rPr>
              <a:t>Routine messages wait in every configuration. Scheduling reorders service; it adds no capacity.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37575" y="438912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37575" y="4389120"/>
            <a:ext cx="3657600" cy="6400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02167" y="457200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9484"/>
                </a:solidFill>
                <a:latin typeface="Calibri"/>
              </a:rPr>
              <a:t>Aging adds nothing here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02167" y="4956048"/>
            <a:ext cx="3328416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0B1F33"/>
                </a:solidFill>
                <a:latin typeface="Calibri"/>
              </a:rPr>
              <a:t>With the small weight, results with and without aging are identical.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TESTING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Verified and built: 7/7 tests, full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AUTOMATED TESTS (pytest)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In-range score = base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69164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4028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24028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Anomaly score rises, capped at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24028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8892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78892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Anomaly flag correct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78892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3756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33756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Queue order &amp; tie-breaks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33756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88620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88620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Aging lets old message overtake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88620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434840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34840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434840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Routing picks more residual energy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4434840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4983479"/>
            <a:ext cx="557784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983479"/>
            <a:ext cx="54864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B9484"/>
                </a:solidFill>
                <a:latin typeface="Calibri"/>
              </a:rPr>
              <a:t>T7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983479"/>
            <a:ext cx="41148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End-to-end: lower anomaly latency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983479"/>
            <a:ext cx="9144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✓ Passed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325880"/>
            <a:ext cx="53035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IMPLEMENTATION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169164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69164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Scoring algorithm (Python + JS cross-checked)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169164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Completed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224028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24028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Interactive browser demo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224028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Completed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278892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78892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Two-hop simulation, metrics, tests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400" y="278892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0B9484"/>
                </a:solidFill>
                <a:latin typeface="Calibri"/>
              </a:rPr>
              <a:t>Completed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333756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33756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Replay of logged sensor data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333756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C2820A"/>
                </a:solidFill>
                <a:latin typeface="Calibri"/>
              </a:rPr>
              <a:t>Future 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388620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388620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ros_acomms integration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388620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C2820A"/>
                </a:solidFill>
                <a:latin typeface="Calibri"/>
              </a:rPr>
              <a:t>Future work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400800" y="4434840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434840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Tank test with real modem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58400" y="4434840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C2820A"/>
                </a:solidFill>
                <a:latin typeface="Calibri"/>
              </a:rPr>
              <a:t>Future work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4983479"/>
            <a:ext cx="5303520" cy="457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983479"/>
            <a:ext cx="365760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B1F33"/>
                </a:solidFill>
                <a:latin typeface="Calibri"/>
              </a:rPr>
              <a:t>Small field pilot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58400" y="4983479"/>
            <a:ext cx="1554480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1200" b="1" i="0">
                <a:solidFill>
                  <a:srgbClr val="C2820A"/>
                </a:solidFill>
                <a:latin typeface="Calibri"/>
              </a:rPr>
              <a:t>Future work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920" y="5623560"/>
            <a:ext cx="11201400" cy="594360"/>
          </a:xfrm>
          <a:prstGeom prst="roundRect">
            <a:avLst>
              <a:gd name="adj" fmla="val 6000"/>
            </a:avLst>
          </a:prstGeom>
          <a:solidFill>
            <a:srgbClr val="E3EFF5"/>
          </a:solidFill>
          <a:ln w="12700">
            <a:solidFill>
              <a:srgbClr val="C3D8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1520" y="5623560"/>
            <a:ext cx="10789920" cy="5943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53707F"/>
                </a:solidFill>
                <a:latin typeface="Calibri"/>
              </a:rPr>
              <a:t>Stack: Python 3 stdlib · matplotlib · HTML/CSS/JS demo · pytest · ROS 1 wrapper (untested)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115568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 i="0">
                <a:solidFill>
                  <a:srgbClr val="0B1F33"/>
                </a:solidFill>
                <a:latin typeface="Calibri"/>
              </a:rPr>
              <a:t>Limits, next steps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8229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3707F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3707F"/>
                </a:solidFill>
                <a:latin typeface="Calibri"/>
              </a:rPr>
              <a:t>AQUAROS PLUS  ·  Content-Aware Priority Scheduling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3657600" cy="64008"/>
          </a:xfrm>
          <a:prstGeom prst="rect">
            <a:avLst/>
          </a:prstGeom>
          <a:solidFill>
            <a:srgbClr val="DC4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55448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DC4A3E"/>
                </a:solidFill>
                <a:latin typeface="Calibri"/>
              </a:rPr>
              <a:t>Honest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938528"/>
            <a:ext cx="3328416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Simulation with synthetic data only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QLS/SHEEP parts are simplified models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Normal ranges are placeholders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Faulty sensors look like anomalies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Student prototype, not a safety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3716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657600" cy="64008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5448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C2820A"/>
                </a:solidFill>
                <a:latin typeface="Calibri"/>
              </a:rPr>
              <a:t>Future enhancements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38528"/>
            <a:ext cx="3328416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Faithful QLS and SHEEP implementations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Calibrate with real oceanographic data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Sensor-fault detection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Tune aging vs fairness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Logged data → ROS → tank test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Bigger topologies and loads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5" y="1371600"/>
            <a:ext cx="36576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371600"/>
            <a:ext cx="3657600" cy="64008"/>
          </a:xfrm>
          <a:prstGeom prst="rect">
            <a:avLst/>
          </a:prstGeom>
          <a:solidFill>
            <a:srgbClr val="0B94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7" y="1554480"/>
            <a:ext cx="3328416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9484"/>
                </a:solidFill>
                <a:latin typeface="Calibri"/>
              </a:rPr>
              <a:t>Priority-aware buffers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7" y="1938528"/>
            <a:ext cx="3328416" cy="2468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Preserve critical readings when buffers fill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Watchdog to detect stalled queue tasks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Real-time task scheduling for node processing</a:t>
            </a:r>
          </a:p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0B1F33"/>
                </a:solidFill>
                <a:latin typeface="Calibri"/>
              </a:rPr>
              <a:t>•  Note: priority alone cannot guarantee deadlines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663440"/>
            <a:ext cx="11201400" cy="1554480"/>
          </a:xfrm>
          <a:prstGeom prst="roundRect">
            <a:avLst>
              <a:gd name="adj" fmla="val 6000"/>
            </a:avLst>
          </a:prstGeom>
          <a:solidFill>
            <a:srgbClr val="D6F2EE"/>
          </a:solidFill>
          <a:ln w="12700">
            <a:solidFill>
              <a:srgbClr val="0B94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709160"/>
            <a:ext cx="10698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B9484"/>
                </a:solidFill>
                <a:latin typeface="Calibri"/>
              </a:rPr>
              <a:t>CONCLUSION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29200"/>
            <a:ext cx="10698480" cy="11887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0B1F33"/>
                </a:solidFill>
                <a:latin typeface="Calibri"/>
              </a:rPr>
              <a:t>Using the value of a reading, not just its sensor type, lets urgent anomalies reach the sink in about 0.22 windows instead of 10.86, with only a small routine-latency cost. Validation with real sensor data and hardware is the next step.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